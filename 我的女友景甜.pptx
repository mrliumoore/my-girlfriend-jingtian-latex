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96250" y="1428750"/>
            <a:ext cx="4095750" cy="5429250"/>
          </a:xfrm>
          <a:custGeom>
            <a:avLst/>
            <a:gdLst/>
            <a:ahLst/>
            <a:cxnLst/>
            <a:rect l="l" t="t" r="r" b="b"/>
            <a:pathLst>
              <a:path w="4095750" h="5429250">
                <a:moveTo>
                  <a:pt x="0" y="5429250"/>
                </a:moveTo>
                <a:cubicBezTo>
                  <a:pt x="0" y="3333750"/>
                  <a:pt x="952500" y="1428750"/>
                  <a:pt x="2381250" y="476250"/>
                </a:cubicBezTo>
                <a:cubicBezTo>
                  <a:pt x="3333750" y="0"/>
                  <a:pt x="4095750" y="285750"/>
                  <a:pt x="4095750" y="285750"/>
                </a:cubicBezTo>
                <a:lnTo>
                  <a:pt x="4095750" y="5429250"/>
                </a:lnTo>
                <a:close/>
              </a:path>
            </a:pathLst>
          </a:custGeom>
          <a:solidFill>
            <a:srgbClr val="E8F3EC">
              <a:alpha val="60000"/>
            </a:srgb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286750" y="16192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858250" y="2190750"/>
            <a:ext cx="2286000" cy="2286000"/>
          </a:xfrm>
          <a:prstGeom prst="ellipse">
            <a:avLst/>
          </a:prstGeom>
          <a:solidFill>
            <a:srgbClr val="D9EADF">
              <a:alpha val="30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9334500" y="2667000"/>
            <a:ext cx="2286000" cy="1333500"/>
            <a:chOff x="9334500" y="2667000"/>
            <a:chExt cx="2286000" cy="1333500"/>
          </a:xfrm>
        </p:grpSpPr>
        <p:sp>
          <p:nvSpPr>
            <p:cNvPr id="5" name="Rectangle 5"/>
            <p:cNvSpPr/>
            <p:nvPr/>
          </p:nvSpPr>
          <p:spPr>
            <a:xfrm>
              <a:off x="9334500" y="26670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2E8B57">
                <a:alpha val="15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525000" y="2857500"/>
              <a:ext cx="1143000" cy="76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0" y="3048000"/>
              <a:ext cx="1714500" cy="76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0" y="3238500"/>
              <a:ext cx="1428750" cy="76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0" y="3429000"/>
              <a:ext cx="762000" cy="76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525000" y="3619500"/>
              <a:ext cx="95250" cy="152400"/>
            </a:xfrm>
            <a:prstGeom prst="rect">
              <a:avLst/>
            </a:prstGeom>
            <a:solidFill>
              <a:srgbClr val="8FCDA9">
                <a:alpha val="15000"/>
              </a:srgbClr>
            </a:solidFill>
            <a:ln>
              <a:noFill/>
            </a:ln>
          </p:spPr>
        </p:sp>
      </p:grpSp>
      <p:sp>
        <p:nvSpPr>
          <p:cNvPr id="12" name="Rectangle 12"/>
          <p:cNvSpPr/>
          <p:nvPr/>
        </p:nvSpPr>
        <p:spPr>
          <a:xfrm>
            <a:off x="571500" y="5715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4004" y="708660"/>
            <a:ext cx="36051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15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NON-FICTION NARRATIVE · 2007-2026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450" y="1577340"/>
            <a:ext cx="4109009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我的女友景甜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8932" y="2345055"/>
            <a:ext cx="380207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spc="300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PPT版 · 情绪资产负债表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8575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63118" y="3250882"/>
            <a:ext cx="51255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一段以极致物质堆砌却最终归于虚无的亲密关系叙事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4000500"/>
            <a:ext cx="57150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819150" y="4343400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40892" y="4292918"/>
            <a:ext cx="40301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跨越19年的私人关系样本：从北大宿舍到马尔代夫</a:t>
            </a:r>
          </a:p>
        </p:txBody>
      </p:sp>
      <p:sp>
        <p:nvSpPr>
          <p:cNvPr id="21" name="Ellipse 21"/>
          <p:cNvSpPr/>
          <p:nvPr/>
        </p:nvSpPr>
        <p:spPr>
          <a:xfrm>
            <a:off x="819150" y="4724400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40892" y="4673918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以冷峻财务审计视角解构情感：数亿资金与顶级资源</a:t>
            </a:r>
          </a:p>
        </p:txBody>
      </p:sp>
      <p:sp>
        <p:nvSpPr>
          <p:cNvPr id="23" name="Ellipse 23"/>
          <p:cNvSpPr/>
          <p:nvPr/>
        </p:nvSpPr>
        <p:spPr>
          <a:xfrm>
            <a:off x="819150" y="5105400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40892" y="5054918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绝对服从下的虚无感：当所有需求被无条件满足</a:t>
            </a:r>
          </a:p>
        </p:txBody>
      </p:sp>
      <p:sp>
        <p:nvSpPr>
          <p:cNvPr id="25" name="Ellipse 25"/>
          <p:cNvSpPr/>
          <p:nvPr/>
        </p:nvSpPr>
        <p:spPr>
          <a:xfrm>
            <a:off x="819150" y="5486400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40892" y="5435918"/>
            <a:ext cx="40318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AI理性决策打破循环：Claude Code 成为关系奇点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66738" y="6381750"/>
            <a:ext cx="11053762" cy="320611"/>
            <a:chOff x="566738" y="6381750"/>
            <a:chExt cx="11053762" cy="320611"/>
          </a:xfrm>
        </p:grpSpPr>
        <p:sp>
          <p:nvSpPr>
            <p:cNvPr id="27" name="Rectangle 27"/>
            <p:cNvSpPr/>
            <p:nvPr/>
          </p:nvSpPr>
          <p:spPr>
            <a:xfrm>
              <a:off x="571500" y="6381750"/>
              <a:ext cx="11049000" cy="9525"/>
            </a:xfrm>
            <a:prstGeom prst="rect">
              <a:avLst/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6738" y="651319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E837A"/>
                  </a:solidFill>
                  <a:latin typeface="Noto Sans CJK SC"/>
                  <a:ea typeface="Noto Sans CJK SC"/>
                  <a:cs typeface="Noto Sans CJK SC"/>
                </a:rPr>
                <a:t>DATA POINTS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09166" y="6497002"/>
              <a:ext cx="661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19 YEARS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62238" y="6513195"/>
              <a:ext cx="566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E837A"/>
                  </a:solidFill>
                  <a:latin typeface="Noto Sans CJK SC"/>
                  <a:ea typeface="Noto Sans CJK SC"/>
                  <a:cs typeface="Noto Sans CJK SC"/>
                </a:rPr>
                <a:t>DURATION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3429000" y="64770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9525">
              <a:solidFill>
                <a:srgbClr val="D9EAD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09416" y="6497002"/>
              <a:ext cx="908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¥30,000,000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8238" y="6513195"/>
              <a:ext cx="6880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E837A"/>
                  </a:solidFill>
                  <a:latin typeface="Noto Sans CJK SC"/>
                  <a:ea typeface="Noto Sans CJK SC"/>
                  <a:cs typeface="Noto Sans CJK SC"/>
                </a:rPr>
                <a:t>BRIDE PRICE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905500" y="64770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9525">
              <a:solidFill>
                <a:srgbClr val="D9EAD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85916" y="6497002"/>
              <a:ext cx="908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$50,000,000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4738" y="6513195"/>
              <a:ext cx="1193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E837A"/>
                  </a:solidFill>
                  <a:latin typeface="Noto Sans CJK SC"/>
                  <a:ea typeface="Noto Sans CJK SC"/>
                  <a:cs typeface="Noto Sans CJK SC"/>
                </a:rPr>
                <a:t>SURROGACY DEPOSIT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763000" y="64770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9525">
              <a:solidFill>
                <a:srgbClr val="D9EAD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43416" y="6497002"/>
              <a:ext cx="1273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A330 PRIVATE JET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72738" y="6513195"/>
              <a:ext cx="604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E837A"/>
                  </a:solidFill>
                  <a:latin typeface="Noto Sans CJK SC"/>
                  <a:ea typeface="Noto Sans CJK SC"/>
                  <a:cs typeface="Noto Sans CJK SC"/>
                </a:rPr>
                <a:t>LOGISTICS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460720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目录：情绪审计的六个维度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5142" y="997268"/>
            <a:ext cx="44208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将非线性回忆重构为逻辑递进的叙事章节 · 全篇共20页</a:t>
            </a:r>
          </a:p>
        </p:txBody>
      </p:sp>
      <p:sp>
        <p:nvSpPr>
          <p:cNvPr id="6" name="Line 6"/>
          <p:cNvSpPr/>
          <p:nvPr/>
        </p:nvSpPr>
        <p:spPr>
          <a:xfrm>
            <a:off x="1524000" y="1714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38100" cap="rnd">
            <a:solidFill>
              <a:srgbClr val="D9EADF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950321" y="1381125"/>
            <a:ext cx="10289179" cy="666750"/>
            <a:chOff x="950321" y="1381125"/>
            <a:chExt cx="10289179" cy="666750"/>
          </a:xfrm>
        </p:grpSpPr>
        <p:sp>
          <p:nvSpPr>
            <p:cNvPr id="7" name="Ellipse 7"/>
            <p:cNvSpPr/>
            <p:nvPr/>
          </p:nvSpPr>
          <p:spPr>
            <a:xfrm>
              <a:off x="1409700" y="16002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8B57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0321" y="16421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01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905000" y="1381125"/>
              <a:ext cx="9334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82368" y="148875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起点与执念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84654" y="1794510"/>
              <a:ext cx="2911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追溯2007-2011年的身份落差与单向关注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0" y="15430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 w="9525">
              <a:solidFill>
                <a:srgbClr val="8FCDA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88263" y="1658302"/>
              <a:ext cx="1092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P3-P4 · 萌芽期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0321" y="2143125"/>
            <a:ext cx="10289179" cy="666750"/>
            <a:chOff x="950321" y="2143125"/>
            <a:chExt cx="10289179" cy="666750"/>
          </a:xfrm>
        </p:grpSpPr>
        <p:sp>
          <p:nvSpPr>
            <p:cNvPr id="15" name="Ellipse 15"/>
            <p:cNvSpPr/>
            <p:nvPr/>
          </p:nvSpPr>
          <p:spPr>
            <a:xfrm>
              <a:off x="1409700" y="23622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8B5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0321" y="24041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905000" y="2143125"/>
              <a:ext cx="9334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82368" y="225075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权力的具象化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4654" y="25565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包场影院、磨指甲等微观场景展示服从机制建立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715500" y="23050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 w="9525">
              <a:solidFill>
                <a:srgbClr val="8FCDA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88263" y="2420302"/>
              <a:ext cx="1092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P5-P7 · 规训期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0321" y="2905125"/>
            <a:ext cx="10289179" cy="666750"/>
            <a:chOff x="950321" y="2905125"/>
            <a:chExt cx="10289179" cy="666750"/>
          </a:xfrm>
        </p:grpSpPr>
        <p:sp>
          <p:nvSpPr>
            <p:cNvPr id="23" name="Ellipse 23"/>
            <p:cNvSpPr/>
            <p:nvPr/>
          </p:nvSpPr>
          <p:spPr>
            <a:xfrm>
              <a:off x="1409700" y="31242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8B5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50321" y="31661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03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905000" y="2905125"/>
              <a:ext cx="9334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82368" y="301275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移动的真空堡垒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4654" y="3318510"/>
              <a:ext cx="3582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特纳里费与马尔代夫行程中30人团队构建绝对隐私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715500" y="30670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 w="9525">
              <a:solidFill>
                <a:srgbClr val="8FCDA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45138" y="3182302"/>
              <a:ext cx="1178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P8-P11 · 隔离期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0321" y="3667125"/>
            <a:ext cx="10289179" cy="666750"/>
            <a:chOff x="950321" y="3667125"/>
            <a:chExt cx="10289179" cy="666750"/>
          </a:xfrm>
        </p:grpSpPr>
        <p:sp>
          <p:nvSpPr>
            <p:cNvPr id="31" name="Ellipse 31"/>
            <p:cNvSpPr/>
            <p:nvPr/>
          </p:nvSpPr>
          <p:spPr>
            <a:xfrm>
              <a:off x="1409700" y="38862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8B5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0321" y="39281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04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05000" y="3667125"/>
              <a:ext cx="9334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182368" y="377475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交易与契约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84654" y="40805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梳理彩礼、房产、番位焦虑等显性利益交换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715500" y="38290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 w="9525">
              <a:solidFill>
                <a:srgbClr val="8FCDA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02013" y="3944302"/>
              <a:ext cx="1265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P12-P15 · 博弈期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0321" y="4429125"/>
            <a:ext cx="10289179" cy="666750"/>
            <a:chOff x="950321" y="4429125"/>
            <a:chExt cx="10289179" cy="666750"/>
          </a:xfrm>
        </p:grpSpPr>
        <p:sp>
          <p:nvSpPr>
            <p:cNvPr id="39" name="Ellipse 39"/>
            <p:cNvSpPr/>
            <p:nvPr/>
          </p:nvSpPr>
          <p:spPr>
            <a:xfrm>
              <a:off x="1409700" y="46482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8B57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50321" y="46901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05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905000" y="4429125"/>
              <a:ext cx="9334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182368" y="4536758"/>
              <a:ext cx="17048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临界点与AI裁决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84654" y="4842510"/>
              <a:ext cx="3565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聚焦5000万美元取卵谈判与Claude Code理性干预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715500" y="45910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 w="9525">
              <a:solidFill>
                <a:srgbClr val="8FCDA9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702013" y="4706302"/>
              <a:ext cx="1265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P16-P18 · 决断期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50321" y="5191125"/>
            <a:ext cx="10289179" cy="666750"/>
            <a:chOff x="950321" y="5191125"/>
            <a:chExt cx="10289179" cy="666750"/>
          </a:xfrm>
        </p:grpSpPr>
        <p:sp>
          <p:nvSpPr>
            <p:cNvPr id="47" name="Ellipse 47"/>
            <p:cNvSpPr/>
            <p:nvPr/>
          </p:nvSpPr>
          <p:spPr>
            <a:xfrm>
              <a:off x="1409700" y="54102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8B57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0321" y="54521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06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905000" y="5191125"/>
              <a:ext cx="9334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182368" y="529875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剩余资产与虚无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184654" y="560451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盘点未拆封促排针、换窗赔偿、删掉的预产期提醒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715500" y="53530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 w="9525">
              <a:solidFill>
                <a:srgbClr val="8FCDA9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702013" y="5468302"/>
              <a:ext cx="1265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P19-P20 · 清算期</a:t>
              </a:r>
            </a:p>
          </p:txBody>
        </p:sp>
      </p:grpSp>
      <p:sp>
        <p:nvSpPr>
          <p:cNvPr id="55" name="Rectangle 55"/>
          <p:cNvSpPr/>
          <p:nvPr/>
        </p:nvSpPr>
        <p:spPr>
          <a:xfrm>
            <a:off x="571500" y="6381750"/>
            <a:ext cx="11049000" cy="19050"/>
          </a:xfrm>
          <a:prstGeom prst="rect">
            <a:avLst/>
          </a:prstGeom>
          <a:solidFill>
            <a:srgbClr val="D9EADF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6166" y="6506528"/>
            <a:ext cx="6529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注：每个章节均包含具体数据锚点与视觉隐喻，确保文学叙事在PPT载体中保持信息密度与节奏感。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58666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起点：3.5微克与2.5吨的重量对冲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1047750"/>
            <a:ext cx="10668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703844" y="1149668"/>
            <a:ext cx="47843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核心隐喻：生命原点与资本重量构成贯穿全文的底层逻辑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714500"/>
            <a:ext cx="5143500" cy="4572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143250" y="2222500"/>
            <a:ext cx="1333500" cy="1270000"/>
          </a:xfrm>
          <a:custGeom>
            <a:avLst/>
            <a:gdLst/>
            <a:ahLst/>
            <a:cxnLst/>
            <a:rect l="l" t="t" r="r" b="b"/>
            <a:pathLst>
              <a:path w="1333500" h="1270000">
                <a:moveTo>
                  <a:pt x="190500" y="254000"/>
                </a:moveTo>
                <a:cubicBezTo>
                  <a:pt x="381000" y="0"/>
                  <a:pt x="571500" y="0"/>
                  <a:pt x="762000" y="254000"/>
                </a:cubicBezTo>
                <a:cubicBezTo>
                  <a:pt x="952500" y="508000"/>
                  <a:pt x="1143000" y="508000"/>
                  <a:pt x="1333500" y="254000"/>
                </a:cubicBezTo>
                <a:cubicBezTo>
                  <a:pt x="1143000" y="508000"/>
                  <a:pt x="952500" y="762000"/>
                  <a:pt x="762000" y="1016000"/>
                </a:cubicBezTo>
                <a:cubicBezTo>
                  <a:pt x="571500" y="1270000"/>
                  <a:pt x="381000" y="1270000"/>
                  <a:pt x="190500" y="1016000"/>
                </a:cubicBezTo>
                <a:cubicBezTo>
                  <a:pt x="0" y="762000"/>
                  <a:pt x="0" y="508000"/>
                  <a:pt x="190500" y="254000"/>
                </a:cubicBezTo>
              </a:path>
            </a:pathLst>
          </a:custGeom>
          <a:noFill/>
          <a:ln w="19050">
            <a:solidFill>
              <a:srgbClr val="8FCDA9">
                <a:alpha val="6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3524250" y="2381250"/>
            <a:ext cx="762000" cy="762000"/>
          </a:xfrm>
          <a:prstGeom prst="ellipse">
            <a:avLst/>
          </a:prstGeom>
          <a:solidFill>
            <a:srgbClr val="F4F9F4"/>
          </a:solidFill>
          <a:ln w="19050">
            <a:solidFill>
              <a:srgbClr val="8FCDA9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3790950" y="2647950"/>
            <a:ext cx="228600" cy="228600"/>
          </a:xfrm>
          <a:prstGeom prst="ellipse">
            <a:avLst/>
          </a:prstGeom>
          <a:solidFill>
            <a:srgbClr val="8FCDA9">
              <a:alpha val="3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81783" y="3291840"/>
            <a:ext cx="1903933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3.5μg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19375" y="39814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一颗卵子的重量</a:t>
            </a:r>
          </a:p>
        </p:txBody>
      </p:sp>
      <p:sp>
        <p:nvSpPr>
          <p:cNvPr id="13" name="Line 13"/>
          <p:cNvSpPr/>
          <p:nvPr/>
        </p:nvSpPr>
        <p:spPr>
          <a:xfrm>
            <a:off x="1143000" y="447675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1200150" y="4772025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374267" y="4712018"/>
            <a:ext cx="33576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2007年校内网耗时40分钟编辑一句“你好”</a:t>
            </a:r>
          </a:p>
        </p:txBody>
      </p:sp>
      <p:sp>
        <p:nvSpPr>
          <p:cNvPr id="16" name="Ellipse 16"/>
          <p:cNvSpPr/>
          <p:nvPr/>
        </p:nvSpPr>
        <p:spPr>
          <a:xfrm>
            <a:off x="1200150" y="5153025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74267" y="5093018"/>
            <a:ext cx="34317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彼时一年房租仅1000元，模糊的联想IBM</a:t>
            </a:r>
          </a:p>
        </p:txBody>
      </p:sp>
      <p:sp>
        <p:nvSpPr>
          <p:cNvPr id="18" name="Ellipse 18"/>
          <p:cNvSpPr/>
          <p:nvPr/>
        </p:nvSpPr>
        <p:spPr>
          <a:xfrm>
            <a:off x="1200150" y="5534025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74267" y="5474018"/>
            <a:ext cx="304872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不可控的生命创造权 vs 在场却无意义</a:t>
            </a:r>
          </a:p>
        </p:txBody>
      </p:sp>
      <p:sp>
        <p:nvSpPr>
          <p:cNvPr id="20" name="Ellipse 20"/>
          <p:cNvSpPr/>
          <p:nvPr/>
        </p:nvSpPr>
        <p:spPr>
          <a:xfrm>
            <a:off x="5867400" y="3771900"/>
            <a:ext cx="457200" cy="457200"/>
          </a:xfrm>
          <a:prstGeom prst="ellipse">
            <a:avLst/>
          </a:prstGeom>
          <a:solidFill>
            <a:srgbClr val="F4F9F4"/>
          </a:solidFill>
          <a:ln w="19050">
            <a:solidFill>
              <a:srgbClr val="8FCDA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965165" y="3914775"/>
            <a:ext cx="26167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VS</a:t>
            </a:r>
          </a:p>
        </p:txBody>
      </p:sp>
      <p:sp>
        <p:nvSpPr>
          <p:cNvPr id="22" name="Line 22"/>
          <p:cNvSpPr/>
          <p:nvPr/>
        </p:nvSpPr>
        <p:spPr>
          <a:xfrm>
            <a:off x="6096000" y="1905000"/>
            <a:ext cx="9525" cy="1809750"/>
          </a:xfrm>
          <a:custGeom>
            <a:avLst/>
            <a:gdLst/>
            <a:ahLst/>
            <a:cxnLst/>
            <a:rect l="l" t="t" r="r" b="b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9525">
            <a:solidFill>
              <a:srgbClr val="D9EADF"/>
            </a:solidFill>
            <a:custDash>
              <a:ds d="600000" sp="400000"/>
            </a:custDash>
          </a:ln>
        </p:spPr>
      </p:sp>
      <p:sp>
        <p:nvSpPr>
          <p:cNvPr id="23" name="Line 23"/>
          <p:cNvSpPr/>
          <p:nvPr/>
        </p:nvSpPr>
        <p:spPr>
          <a:xfrm>
            <a:off x="6096000" y="4286250"/>
            <a:ext cx="9525" cy="1809750"/>
          </a:xfrm>
          <a:custGeom>
            <a:avLst/>
            <a:gdLst/>
            <a:ahLst/>
            <a:cxnLst/>
            <a:rect l="l" t="t" r="r" b="b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9525">
            <a:solidFill>
              <a:srgbClr val="D9EADF"/>
            </a:solidFill>
            <a:custDash>
              <a:ds d="600000" sp="400000"/>
            </a:custDash>
          </a:ln>
        </p:spPr>
      </p:sp>
      <p:sp>
        <p:nvSpPr>
          <p:cNvPr id="24" name="Rectangle 24"/>
          <p:cNvSpPr/>
          <p:nvPr/>
        </p:nvSpPr>
        <p:spPr>
          <a:xfrm>
            <a:off x="6286500" y="1714500"/>
            <a:ext cx="5143500" cy="4572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8286750" y="2286000"/>
            <a:ext cx="1428750" cy="762000"/>
            <a:chOff x="8286750" y="2286000"/>
            <a:chExt cx="1428750" cy="762000"/>
          </a:xfrm>
        </p:grpSpPr>
        <p:sp>
          <p:nvSpPr>
            <p:cNvPr id="25" name="Rectangle 25"/>
            <p:cNvSpPr/>
            <p:nvPr/>
          </p:nvSpPr>
          <p:spPr>
            <a:xfrm>
              <a:off x="8286750" y="2857500"/>
              <a:ext cx="1143000" cy="190500"/>
            </a:xfrm>
            <a:prstGeom prst="roundRect">
              <a:avLst>
                <a:gd name="adj" fmla="val 10000"/>
              </a:avLst>
            </a:prstGeom>
            <a:solidFill>
              <a:srgbClr val="8FCDA9">
                <a:alpha val="40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82000" y="2667000"/>
              <a:ext cx="1143000" cy="190500"/>
            </a:xfrm>
            <a:prstGeom prst="roundRect">
              <a:avLst>
                <a:gd name="adj" fmla="val 10000"/>
              </a:avLst>
            </a:prstGeom>
            <a:solidFill>
              <a:srgbClr val="8FCDA9">
                <a:alpha val="60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77250" y="2476500"/>
              <a:ext cx="1143000" cy="190500"/>
            </a:xfrm>
            <a:prstGeom prst="roundRect">
              <a:avLst>
                <a:gd name="adj" fmla="val 10000"/>
              </a:avLst>
            </a:prstGeom>
            <a:solidFill>
              <a:srgbClr val="8FCDA9">
                <a:alpha val="80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572500" y="2286000"/>
              <a:ext cx="1143000" cy="190500"/>
            </a:xfrm>
            <a:prstGeom prst="roundRect">
              <a:avLst>
                <a:gd name="adj" fmla="val 10000"/>
              </a:avLst>
            </a:prstGeom>
            <a:solidFill>
              <a:srgbClr val="2E8B57"/>
            </a:solidFill>
            <a:ln>
              <a:noFill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8092867" y="3291840"/>
            <a:ext cx="153076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1F5C3D"/>
                </a:solidFill>
                <a:latin typeface="Noto Sans CJK SC"/>
                <a:ea typeface="Noto Sans CJK SC"/>
                <a:cs typeface="Noto Sans CJK SC"/>
              </a:rPr>
              <a:t>2.5t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20787" y="3981450"/>
            <a:ext cx="20749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5000万美元现金的重量</a:t>
            </a:r>
          </a:p>
        </p:txBody>
      </p:sp>
      <p:sp>
        <p:nvSpPr>
          <p:cNvPr id="32" name="Line 32"/>
          <p:cNvSpPr/>
          <p:nvPr/>
        </p:nvSpPr>
        <p:spPr>
          <a:xfrm>
            <a:off x="6667500" y="447675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6724650" y="4772025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898767" y="4712018"/>
            <a:ext cx="35030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2011年150元羽绒服 vs 1.5亿电影《战国》</a:t>
            </a:r>
          </a:p>
        </p:txBody>
      </p:sp>
      <p:sp>
        <p:nvSpPr>
          <p:cNvPr id="35" name="Ellipse 35"/>
          <p:cNvSpPr/>
          <p:nvPr/>
        </p:nvSpPr>
        <p:spPr>
          <a:xfrm>
            <a:off x="6724650" y="5153025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898767" y="5093018"/>
            <a:ext cx="37005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影帝沦为陪衬，空置湾流G700与蒙太奇海滩</a:t>
            </a:r>
          </a:p>
        </p:txBody>
      </p:sp>
      <p:sp>
        <p:nvSpPr>
          <p:cNvPr id="37" name="Ellipse 37"/>
          <p:cNvSpPr/>
          <p:nvPr/>
        </p:nvSpPr>
        <p:spPr>
          <a:xfrm>
            <a:off x="6724650" y="5534025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898767" y="5474018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用可称量资本置换不可控生命的万倍级差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" y="6477000"/>
            <a:ext cx="10668000" cy="228600"/>
          </a:xfrm>
          <a:prstGeom prst="roundRect">
            <a:avLst>
              <a:gd name="adj" fmla="val 16667"/>
            </a:avLst>
          </a:prstGeom>
          <a:solidFill>
            <a:srgbClr val="8FCDA9">
              <a:alpha val="20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959800" y="6525578"/>
            <a:ext cx="42724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所有后续情节都是这组重量单位的反复验算 · 十九年前就已写好剧本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57521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执念存档：一张糊图的十九年迁移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5142" y="949642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低像素图像作为情感图腾在设备迭代中持续生效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191000" y="1524000"/>
            <a:ext cx="3810000" cy="3810000"/>
            <a:chOff x="4191000" y="1524000"/>
            <a:chExt cx="3810000" cy="3810000"/>
          </a:xfrm>
        </p:grpSpPr>
        <p:sp>
          <p:nvSpPr>
            <p:cNvPr id="6" name="Rectangle 6"/>
            <p:cNvSpPr/>
            <p:nvPr/>
          </p:nvSpPr>
          <p:spPr>
            <a:xfrm>
              <a:off x="4191000" y="1524000"/>
              <a:ext cx="3810000" cy="3810000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19050">
              <a:solidFill>
                <a:srgbClr val="D9EADF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667250" y="2000250"/>
              <a:ext cx="2857500" cy="2857500"/>
              <a:chOff x="4667250" y="2000250"/>
              <a:chExt cx="2857500" cy="2857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4667250" y="2000250"/>
                <a:ext cx="2857500" cy="2857500"/>
              </a:xfrm>
              <a:prstGeom prst="rect">
                <a:avLst/>
              </a:prstGeom>
              <a:solidFill>
                <a:srgbClr val="F4F9F4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238750" y="2190750"/>
                <a:ext cx="1714500" cy="381000"/>
              </a:xfrm>
              <a:prstGeom prst="rect">
                <a:avLst/>
              </a:prstGeom>
              <a:solidFill>
                <a:srgbClr val="1F5C3D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048250" y="2571750"/>
                <a:ext cx="381000" cy="1714500"/>
              </a:xfrm>
              <a:prstGeom prst="rect">
                <a:avLst/>
              </a:prstGeom>
              <a:solidFill>
                <a:srgbClr val="1F5C3D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6762750" y="2571750"/>
                <a:ext cx="381000" cy="1714500"/>
              </a:xfrm>
              <a:prstGeom prst="rect">
                <a:avLst/>
              </a:prstGeom>
              <a:solidFill>
                <a:srgbClr val="1F5C3D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5048250" y="4286250"/>
                <a:ext cx="571500" cy="381000"/>
              </a:xfrm>
              <a:prstGeom prst="rect">
                <a:avLst/>
              </a:prstGeom>
              <a:solidFill>
                <a:srgbClr val="1F5C3D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572250" y="4286250"/>
                <a:ext cx="571500" cy="381000"/>
              </a:xfrm>
              <a:prstGeom prst="rect">
                <a:avLst/>
              </a:prstGeom>
              <a:solidFill>
                <a:srgbClr val="1F5C3D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429250" y="2571750"/>
                <a:ext cx="1333500" cy="1524000"/>
              </a:xfrm>
              <a:prstGeom prst="rect">
                <a:avLst/>
              </a:prstGeom>
              <a:solidFill>
                <a:srgbClr val="8FCDA9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619750" y="4095750"/>
                <a:ext cx="952500" cy="381000"/>
              </a:xfrm>
              <a:prstGeom prst="rect">
                <a:avLst/>
              </a:prstGeom>
              <a:solidFill>
                <a:srgbClr val="8FCDA9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619750" y="2952750"/>
                <a:ext cx="285750" cy="190500"/>
              </a:xfrm>
              <a:prstGeom prst="rect">
                <a:avLst/>
              </a:prstGeom>
              <a:solidFill>
                <a:srgbClr val="1F5C3D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286500" y="2952750"/>
                <a:ext cx="285750" cy="190500"/>
              </a:xfrm>
              <a:prstGeom prst="rect">
                <a:avLst/>
              </a:prstGeom>
              <a:solidFill>
                <a:srgbClr val="1F5C3D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5810250" y="3619500"/>
                <a:ext cx="571500" cy="142875"/>
              </a:xfrm>
              <a:prstGeom prst="rect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429250" y="2571750"/>
                <a:ext cx="190500" cy="190500"/>
              </a:xfrm>
              <a:prstGeom prst="rect">
                <a:avLst/>
              </a:prstGeom>
              <a:solidFill>
                <a:srgbClr val="FFFF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572250" y="3333750"/>
                <a:ext cx="190500" cy="190500"/>
              </a:xfrm>
              <a:prstGeom prst="rect">
                <a:avLst/>
              </a:prstGeom>
              <a:solidFill>
                <a:srgbClr val="FFFF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5619750" y="3905250"/>
                <a:ext cx="190500" cy="190500"/>
              </a:xfrm>
              <a:prstGeom prst="rect">
                <a:avLst/>
              </a:prstGeom>
              <a:solidFill>
                <a:srgbClr val="1F5C3D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381750" y="2762250"/>
                <a:ext cx="190500" cy="190500"/>
              </a:xfrm>
              <a:prstGeom prst="rect">
                <a:avLst/>
              </a:prstGeom>
              <a:solidFill>
                <a:srgbClr val="1F5C3D">
                  <a:alpha val="10000"/>
                </a:srgbClr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884649" y="4934902"/>
              <a:ext cx="24227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2007 QQ弹窗原始凭证 · 分辨率极低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" y="1714500"/>
            <a:ext cx="2667000" cy="762000"/>
            <a:chOff x="952500" y="1714500"/>
            <a:chExt cx="2667000" cy="762000"/>
          </a:xfrm>
        </p:grpSpPr>
        <p:sp>
          <p:nvSpPr>
            <p:cNvPr id="25" name="Rectangle 25"/>
            <p:cNvSpPr/>
            <p:nvPr/>
          </p:nvSpPr>
          <p:spPr>
            <a:xfrm>
              <a:off x="952500" y="1714500"/>
              <a:ext cx="2667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8FCDA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3856" y="18059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2007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6904" y="2108835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北大宿舍 · 校内网拒信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371850" y="2038350"/>
              <a:ext cx="114300" cy="1143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572500" y="1714500"/>
            <a:ext cx="2667000" cy="762000"/>
            <a:chOff x="8572500" y="1714500"/>
            <a:chExt cx="2667000" cy="762000"/>
          </a:xfrm>
        </p:grpSpPr>
        <p:sp>
          <p:nvSpPr>
            <p:cNvPr id="30" name="Rectangle 30"/>
            <p:cNvSpPr/>
            <p:nvPr/>
          </p:nvSpPr>
          <p:spPr>
            <a:xfrm>
              <a:off x="8572500" y="1714500"/>
              <a:ext cx="2667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8FCDA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53856" y="1805940"/>
              <a:ext cx="12777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2015-2024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56904" y="2108835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跨设备强制迁移 · 数字遗物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10991850" y="2038350"/>
              <a:ext cx="114300" cy="1143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52500" y="4381500"/>
            <a:ext cx="2667000" cy="762000"/>
            <a:chOff x="952500" y="4381500"/>
            <a:chExt cx="2667000" cy="762000"/>
          </a:xfrm>
        </p:grpSpPr>
        <p:sp>
          <p:nvSpPr>
            <p:cNvPr id="35" name="Rectangle 35"/>
            <p:cNvSpPr/>
            <p:nvPr/>
          </p:nvSpPr>
          <p:spPr>
            <a:xfrm>
              <a:off x="952500" y="4381500"/>
              <a:ext cx="2667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8FCDA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33856" y="4472940"/>
              <a:ext cx="20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Delete &amp; Restore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6904" y="47758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删除又恢复的执念仪式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371850" y="4705350"/>
              <a:ext cx="114300" cy="1143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8572500" y="4381500"/>
            <a:ext cx="2667000" cy="762000"/>
            <a:chOff x="8572500" y="4381500"/>
            <a:chExt cx="2667000" cy="762000"/>
          </a:xfrm>
        </p:grpSpPr>
        <p:sp>
          <p:nvSpPr>
            <p:cNvPr id="40" name="Rectangle 40"/>
            <p:cNvSpPr/>
            <p:nvPr/>
          </p:nvSpPr>
          <p:spPr>
            <a:xfrm>
              <a:off x="8572500" y="4381500"/>
              <a:ext cx="2667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8FCDA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53856" y="4472940"/>
              <a:ext cx="1586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Blurry Truth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56904" y="47758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模糊性抵抗现实校准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0991850" y="4705350"/>
              <a:ext cx="114300" cy="1143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</p:grpSp>
      <p:sp>
        <p:nvSpPr>
          <p:cNvPr id="45" name="Line 45"/>
          <p:cNvSpPr/>
          <p:nvPr/>
        </p:nvSpPr>
        <p:spPr>
          <a:xfrm>
            <a:off x="3619500" y="2095500"/>
            <a:ext cx="571500" cy="381000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0" y="0"/>
                </a:moveTo>
                <a:lnTo>
                  <a:pt x="571500" y="381000"/>
                </a:lnTo>
              </a:path>
            </a:pathLst>
          </a:custGeom>
          <a:noFill/>
          <a:ln w="19050">
            <a:solidFill>
              <a:srgbClr val="D9EADF"/>
            </a:solidFill>
            <a:prstDash val="dash"/>
          </a:ln>
        </p:spPr>
      </p:sp>
      <p:sp>
        <p:nvSpPr>
          <p:cNvPr id="46" name="Line 46"/>
          <p:cNvSpPr/>
          <p:nvPr/>
        </p:nvSpPr>
        <p:spPr>
          <a:xfrm>
            <a:off x="8001000" y="2095500"/>
            <a:ext cx="571500" cy="381000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57150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D9EADF"/>
            </a:solidFill>
            <a:prstDash val="dash"/>
          </a:ln>
        </p:spPr>
      </p:sp>
      <p:sp>
        <p:nvSpPr>
          <p:cNvPr id="47" name="Line 47"/>
          <p:cNvSpPr/>
          <p:nvPr/>
        </p:nvSpPr>
        <p:spPr>
          <a:xfrm>
            <a:off x="3619500" y="4381500"/>
            <a:ext cx="571500" cy="381000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0" y="38100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D9EADF"/>
            </a:solidFill>
            <a:prstDash val="dash"/>
          </a:ln>
        </p:spPr>
      </p:sp>
      <p:sp>
        <p:nvSpPr>
          <p:cNvPr id="48" name="Line 48"/>
          <p:cNvSpPr/>
          <p:nvPr/>
        </p:nvSpPr>
        <p:spPr>
          <a:xfrm>
            <a:off x="8001000" y="4381500"/>
            <a:ext cx="571500" cy="381000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571500" y="3810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D9EADF"/>
            </a:solidFill>
            <a:prstDash val="dash"/>
          </a:ln>
        </p:spPr>
      </p:sp>
      <p:sp>
        <p:nvSpPr>
          <p:cNvPr id="49" name="Rectangle 49"/>
          <p:cNvSpPr/>
          <p:nvPr/>
        </p:nvSpPr>
        <p:spPr>
          <a:xfrm>
            <a:off x="571500" y="5715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819150" y="5962650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40892" y="5912168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D"/>
                </a:solidFill>
                <a:latin typeface="Noto Sans CJK SC"/>
                <a:ea typeface="Microsoft YaHei"/>
                <a:cs typeface="Noto Sans CJK SC"/>
              </a:rPr>
              <a:t>核心洞察：在高度确定的物质世界里，唯有这张不确定的图承载了真实情感。</a:t>
            </a:r>
          </a:p>
        </p:txBody>
      </p:sp>
      <p:sp>
        <p:nvSpPr>
          <p:cNvPr id="52" name="Ellipse 52"/>
          <p:cNvSpPr/>
          <p:nvPr/>
        </p:nvSpPr>
        <p:spPr>
          <a:xfrm>
            <a:off x="11401425" y="542925"/>
            <a:ext cx="57150" cy="5715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11591925" y="542925"/>
            <a:ext cx="57150" cy="5715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11782425" y="542925"/>
            <a:ext cx="57150" cy="5715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542925" y="6448425"/>
            <a:ext cx="57150" cy="5715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733425" y="6448425"/>
            <a:ext cx="57150" cy="5715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638186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服从测试：620万美元香蕉与空放映厅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4380" y="933450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通过极端消费场景验证无条件响应的边界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428750"/>
            <a:ext cx="5334000" cy="485775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1524000" y="1905000"/>
            <a:ext cx="1714500" cy="952500"/>
          </a:xfrm>
          <a:custGeom>
            <a:avLst/>
            <a:gdLst/>
            <a:ahLst/>
            <a:cxnLst/>
            <a:rect l="l" t="t" r="r" b="b"/>
            <a:pathLst>
              <a:path w="1714500" h="952500">
                <a:moveTo>
                  <a:pt x="0" y="381000"/>
                </a:moveTo>
                <a:cubicBezTo>
                  <a:pt x="381000" y="0"/>
                  <a:pt x="762000" y="0"/>
                  <a:pt x="1143000" y="381000"/>
                </a:cubicBezTo>
                <a:cubicBezTo>
                  <a:pt x="1524000" y="762000"/>
                  <a:pt x="1714500" y="952500"/>
                  <a:pt x="1714500" y="952500"/>
                </a:cubicBezTo>
              </a:path>
            </a:pathLst>
          </a:custGeom>
          <a:noFill/>
          <a:ln w="114300" cap="rnd">
            <a:solidFill>
              <a:srgbClr val="8FCDA9"/>
            </a:solidFill>
          </a:ln>
        </p:spPr>
      </p:sp>
      <p:sp>
        <p:nvSpPr>
          <p:cNvPr id="8" name="Rectangle 8"/>
          <p:cNvSpPr/>
          <p:nvPr/>
        </p:nvSpPr>
        <p:spPr>
          <a:xfrm rot="2700000">
            <a:off x="3139882" y="2760855"/>
            <a:ext cx="381000" cy="142875"/>
          </a:xfrm>
          <a:prstGeom prst="roundRect">
            <a:avLst>
              <a:gd name="adj" fmla="val 26667"/>
            </a:avLst>
          </a:prstGeom>
          <a:solidFill>
            <a:srgbClr val="2E8B57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000500" y="1905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4F9F4"/>
          </a:solidFill>
          <a:ln w="9525">
            <a:solidFill>
              <a:srgbClr val="2E8B57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053669" y="2072640"/>
            <a:ext cx="14176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$6,200,000</a:t>
            </a:r>
          </a:p>
        </p:txBody>
      </p:sp>
      <p:sp>
        <p:nvSpPr>
          <p:cNvPr id="11" name="Line 11"/>
          <p:cNvSpPr/>
          <p:nvPr/>
        </p:nvSpPr>
        <p:spPr>
          <a:xfrm>
            <a:off x="3619500" y="2190750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381000" y="0"/>
                </a:moveTo>
                <a:lnTo>
                  <a:pt x="0" y="285750"/>
                </a:lnTo>
              </a:path>
            </a:pathLst>
          </a:custGeom>
          <a:noFill/>
          <a:ln w="9525">
            <a:solidFill>
              <a:srgbClr val="2E8B57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44118" y="3441382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价值质询与沉默回应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5642" y="3807142"/>
            <a:ext cx="27579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“烂了怎么办？”的提问遭遇沉默，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5642" y="4092892"/>
            <a:ext cx="29215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随即转化为对私人观影的绝对要求。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4572000"/>
            <a:ext cx="4572000" cy="9525"/>
          </a:xfrm>
          <a:prstGeom prst="rect">
            <a:avLst/>
          </a:prstGeom>
          <a:solidFill>
            <a:srgbClr val="D9EAD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44118" y="47748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清场执行精度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642" y="5140642"/>
            <a:ext cx="29396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26名观众现场现金回购，包括孩童。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5642" y="5426392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中宣部审片规格被转化为情感测试场。</a:t>
            </a:r>
          </a:p>
        </p:txBody>
      </p:sp>
      <p:sp>
        <p:nvSpPr>
          <p:cNvPr id="19" name="Ellipse 19"/>
          <p:cNvSpPr/>
          <p:nvPr/>
        </p:nvSpPr>
        <p:spPr>
          <a:xfrm>
            <a:off x="4914900" y="5295900"/>
            <a:ext cx="457200" cy="457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989747" y="54683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朱迪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4113" y="5839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头像验证标记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1428750"/>
            <a:ext cx="5334000" cy="485775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6667500" y="1809750"/>
            <a:ext cx="2172481" cy="723900"/>
            <a:chOff x="6667500" y="1809750"/>
            <a:chExt cx="2172481" cy="723900"/>
          </a:xfrm>
        </p:grpSpPr>
        <p:sp>
          <p:nvSpPr>
            <p:cNvPr id="23" name="Rectangle 23"/>
            <p:cNvSpPr/>
            <p:nvPr/>
          </p:nvSpPr>
          <p:spPr>
            <a:xfrm>
              <a:off x="6667500" y="18097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34200" y="18097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00900" y="18097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467600" y="18097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34300" y="18097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67500" y="20764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34200" y="20764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00900" y="20764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467600" y="20764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734300" y="20764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67500" y="23431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34200" y="23431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200900" y="23431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467600" y="23431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734300" y="234315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86166" y="2077402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仅2席亮起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659118" y="28698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指甲打磨仪式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60642" y="3235642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推开手并非拒绝，而是指出边缘尖锐。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60642" y="352139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近一小时专业工具逐根打磨十指。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667500" y="4000500"/>
            <a:ext cx="4572000" cy="9525"/>
          </a:xfrm>
          <a:prstGeom prst="rect">
            <a:avLst/>
          </a:prstGeom>
          <a:solidFill>
            <a:srgbClr val="D9EAD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59118" y="42033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情感绑定范式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660642" y="4569142"/>
            <a:ext cx="29578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“顺着一个方向”直至“不刮人为止”。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60642" y="4854892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身体照料升华为存在价值的精准度量。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5334000"/>
            <a:ext cx="4572000" cy="666750"/>
          </a:xfrm>
          <a:prstGeom prst="roundRect">
            <a:avLst>
              <a:gd name="adj" fmla="val 11429"/>
            </a:avLst>
          </a:prstGeom>
          <a:solidFill>
            <a:srgbClr val="F4F9F4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851904" y="5490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核心结论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51904" y="572833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她的需求必须被绝对执行，他的价值取决于执行精度。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57903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尽职调查：40页报告与零信任悖论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4380" y="933450"/>
            <a:ext cx="46596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核心洞察：全面掌握事实却选择全盘相信的情感策略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428750"/>
            <a:ext cx="4381500" cy="4572000"/>
            <a:chOff x="571500" y="1428750"/>
            <a:chExt cx="4381500" cy="457200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4381500" cy="4572000"/>
            </a:xfrm>
            <a:custGeom>
              <a:avLst/>
              <a:gdLst/>
              <a:ahLst/>
              <a:cxnLst/>
              <a:rect l="l" t="t" r="r" b="b"/>
              <a:pathLst>
                <a:path w="4381500" h="4572000">
                  <a:moveTo>
                    <a:pt x="0" y="190500"/>
                  </a:moveTo>
                  <a:lnTo>
                    <a:pt x="0" y="4572000"/>
                  </a:lnTo>
                  <a:lnTo>
                    <a:pt x="4381500" y="4572000"/>
                  </a:lnTo>
                  <a:lnTo>
                    <a:pt x="4381500" y="190500"/>
                  </a:lnTo>
                  <a:lnTo>
                    <a:pt x="2286000" y="190500"/>
                  </a:lnTo>
                  <a:lnTo>
                    <a:pt x="209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3EC"/>
            </a:solidFill>
            <a:ln w="19050">
              <a:solidFill>
                <a:srgbClr val="8FCDA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 rot="-120000">
              <a:off x="857250" y="1809750"/>
              <a:ext cx="3810000" cy="400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 rot="60000">
              <a:off x="904037" y="1858199"/>
              <a:ext cx="3810000" cy="400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905000"/>
              <a:ext cx="3810000" cy="4000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8B5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29106" y="218694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背景调查报告 · 机密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238250" y="252412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8FCDA9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238250" y="2762250"/>
              <a:ext cx="3238500" cy="285750"/>
            </a:xfrm>
            <a:prstGeom prst="roundRect">
              <a:avLst>
                <a:gd name="adj" fmla="val 13333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75029" y="28422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关联账户：景国庆 / 田心爱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238250" y="3190875"/>
              <a:ext cx="3238500" cy="285750"/>
            </a:xfrm>
            <a:prstGeom prst="roundRect">
              <a:avLst>
                <a:gd name="adj" fmla="val 13333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5029" y="32708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京沪房产及股权架构穿透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238250" y="3619500"/>
              <a:ext cx="3238500" cy="285750"/>
            </a:xfrm>
            <a:prstGeom prst="roundRect">
              <a:avLst>
                <a:gd name="adj" fmla="val 13333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75029" y="36995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历年项目合作方清单核查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143000" y="2905125"/>
              <a:ext cx="3429000" cy="857250"/>
            </a:xfrm>
            <a:custGeom>
              <a:avLst/>
              <a:gdLst/>
              <a:ahLst/>
              <a:cxnLst/>
              <a:rect l="l" t="t" r="r" b="b"/>
              <a:pathLst>
                <a:path w="3429000" h="857250">
                  <a:moveTo>
                    <a:pt x="0" y="857250"/>
                  </a:moveTo>
                  <a:lnTo>
                    <a:pt x="3429000" y="0"/>
                  </a:lnTo>
                </a:path>
              </a:pathLst>
            </a:custGeom>
            <a:noFill/>
            <a:ln w="38100">
              <a:solidFill>
                <a:srgbClr val="2E8B57">
                  <a:alpha val="80000"/>
                </a:srgbClr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 rot="-899999">
              <a:off x="2095500" y="4191000"/>
              <a:ext cx="1524000" cy="571500"/>
              <a:chOff x="2095500" y="4191000"/>
              <a:chExt cx="1524000" cy="571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2095500" y="4191000"/>
                <a:ext cx="1524000" cy="571500"/>
              </a:xfrm>
              <a:prstGeom prst="roundRect">
                <a:avLst>
                  <a:gd name="adj" fmla="val 13333"/>
                </a:avLst>
              </a:prstGeom>
              <a:noFill/>
              <a:ln w="28575">
                <a:solidFill>
                  <a:srgbClr val="2E8B57">
                    <a:alpha val="60000"/>
                  </a:srgbClr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339492" y="43586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E8B57">
                        <a:alphaMod val="60000"/>
                      </a:srgbClr>
                    </a:solidFill>
                    <a:latin typeface="Noto Sans CJK SC"/>
                    <a:ea typeface="Microsoft YaHei"/>
                    <a:cs typeface="Noto Sans CJK SC"/>
                  </a:rPr>
                  <a:t>全盘采信</a:t>
                </a:r>
              </a:p>
            </p:txBody>
          </p:sp>
        </p:grpSp>
        <p:sp>
          <p:nvSpPr>
            <p:cNvPr id="22" name="Rectangle 22"/>
            <p:cNvSpPr/>
            <p:nvPr/>
          </p:nvSpPr>
          <p:spPr>
            <a:xfrm>
              <a:off x="4000500" y="552450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1F5C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84892" y="5573078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40+ P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0" y="1428750"/>
            <a:ext cx="6286500" cy="4095750"/>
            <a:chOff x="5334000" y="1428750"/>
            <a:chExt cx="6286500" cy="4095750"/>
          </a:xfrm>
        </p:grpSpPr>
        <p:sp>
          <p:nvSpPr>
            <p:cNvPr id="25" name="Rectangle 25"/>
            <p:cNvSpPr/>
            <p:nvPr/>
          </p:nvSpPr>
          <p:spPr>
            <a:xfrm>
              <a:off x="5334000" y="1428750"/>
              <a:ext cx="6286500" cy="12382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0" y="1428750"/>
              <a:ext cx="76200" cy="123825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11368" y="163163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认知失调的权力真相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12892" y="199739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报告内容与她所述存在矛盾，部分信息从未提及。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12892" y="2283142"/>
              <a:ext cx="4602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信息优势 ≠ 决策权，“一个字也不信”报告本身即是态度。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0" y="2857500"/>
              <a:ext cx="6286500" cy="12382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0" y="2857500"/>
              <a:ext cx="76200" cy="1238250"/>
            </a:xfrm>
            <a:prstGeom prst="roundRect">
              <a:avLst>
                <a:gd name="adj" fmla="val 5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11368" y="306038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清醒沉沦的自我规训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12892" y="342614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保留报告并非为了核实，而是作为表演信任的道具。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12892" y="3711892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明知有隐瞒仍选择相信，这种“清醒”比无知更昂贵。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0" y="4286250"/>
              <a:ext cx="6286500" cy="12382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0" y="4286250"/>
              <a:ext cx="76200" cy="123825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11368" y="448913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顶级博弈中的忠诚重构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12892" y="4854892"/>
              <a:ext cx="4030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情感忠诚被重新定义为对“信息不对称”的容忍度。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12892" y="5140642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真相不是用来发现的，是用来在不对等关系中被选择性忽略的。</a:t>
              </a:r>
            </a:p>
          </p:txBody>
        </p:sp>
      </p:grpSp>
      <p:sp>
        <p:nvSpPr>
          <p:cNvPr id="41" name="Rectangle 41"/>
          <p:cNvSpPr/>
          <p:nvPr/>
        </p:nvSpPr>
        <p:spPr>
          <a:xfrm>
            <a:off x="571500" y="6096000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E8F3E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519378" y="6214110"/>
            <a:ext cx="715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结论：在不对等关系中，尽职调查的终点不是风控，而是确认自己愿意承担多大的“盲目”成本。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57903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移动堡垒：30人团队与黑胶带工艺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ect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5142" y="949642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绝对隐私是通过人力密集型劳动实现的精密工程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428750"/>
            <a:ext cx="34290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9630" y="16002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出行规模配置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962" y="175450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19335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299335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特纳里费岛行动专属保障团队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585085"/>
            <a:ext cx="23250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A330宽体客机 · 湾流G700待命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143250"/>
            <a:ext cx="34290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31432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49630" y="33147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遮光物料消耗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962" y="346900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50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630" y="36480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1154" y="4013835"/>
            <a:ext cx="21445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首批30卷耗尽后紧急补货20卷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1154" y="4299585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覆盖窗框、空调及插座指示灯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4857750"/>
            <a:ext cx="34290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71500" y="48577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9630" y="50292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空置空间维护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8962" y="5183505"/>
            <a:ext cx="31645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9630" y="5362575"/>
            <a:ext cx="4604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h/日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154" y="5728335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离店后仍按“有人”标准清洁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1154" y="6014085"/>
            <a:ext cx="2068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蒙太奇海滩包层30天($1M)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0" y="1428750"/>
            <a:ext cx="4572000" cy="32385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564380" y="1647825"/>
            <a:ext cx="2559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胶带脱落率随时间变化曲线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6666" y="1934528"/>
            <a:ext cx="24913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工艺优化前：下午3点玻璃最烫导致峰值</a:t>
            </a:r>
          </a:p>
        </p:txBody>
      </p:sp>
      <p:sp>
        <p:nvSpPr>
          <p:cNvPr id="30" name="Line 30"/>
          <p:cNvSpPr/>
          <p:nvPr/>
        </p:nvSpPr>
        <p:spPr>
          <a:xfrm>
            <a:off x="4762500" y="2381250"/>
            <a:ext cx="3714750" cy="9525"/>
          </a:xfrm>
          <a:custGeom>
            <a:avLst/>
            <a:gdLst/>
            <a:ahLst/>
            <a:cxnLst/>
            <a:rect l="l" t="t" r="r" b="b"/>
            <a:pathLst>
              <a:path w="3714750" h="952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31" name="Line 31"/>
          <p:cNvSpPr/>
          <p:nvPr/>
        </p:nvSpPr>
        <p:spPr>
          <a:xfrm>
            <a:off x="4762500" y="2857500"/>
            <a:ext cx="3714750" cy="9525"/>
          </a:xfrm>
          <a:custGeom>
            <a:avLst/>
            <a:gdLst/>
            <a:ahLst/>
            <a:cxnLst/>
            <a:rect l="l" t="t" r="r" b="b"/>
            <a:pathLst>
              <a:path w="3714750" h="952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32" name="Line 32"/>
          <p:cNvSpPr/>
          <p:nvPr/>
        </p:nvSpPr>
        <p:spPr>
          <a:xfrm>
            <a:off x="4762500" y="3333750"/>
            <a:ext cx="3714750" cy="9525"/>
          </a:xfrm>
          <a:custGeom>
            <a:avLst/>
            <a:gdLst/>
            <a:ahLst/>
            <a:cxnLst/>
            <a:rect l="l" t="t" r="r" b="b"/>
            <a:pathLst>
              <a:path w="3714750" h="952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33" name="Line 33"/>
          <p:cNvSpPr/>
          <p:nvPr/>
        </p:nvSpPr>
        <p:spPr>
          <a:xfrm>
            <a:off x="4762500" y="3810000"/>
            <a:ext cx="3714750" cy="9525"/>
          </a:xfrm>
          <a:custGeom>
            <a:avLst/>
            <a:gdLst/>
            <a:ahLst/>
            <a:cxnLst/>
            <a:rect l="l" t="t" r="r" b="b"/>
            <a:pathLst>
              <a:path w="3714750" h="952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34" name="Line 34"/>
          <p:cNvSpPr/>
          <p:nvPr/>
        </p:nvSpPr>
        <p:spPr>
          <a:xfrm>
            <a:off x="4762500" y="4286250"/>
            <a:ext cx="3714750" cy="9525"/>
          </a:xfrm>
          <a:custGeom>
            <a:avLst/>
            <a:gdLst/>
            <a:ahLst/>
            <a:cxnLst/>
            <a:rect l="l" t="t" r="r" b="b"/>
            <a:pathLst>
              <a:path w="3714750" h="952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/>
          <a:ln w="9525">
            <a:solidFill>
              <a:srgbClr val="2C3A3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4350830" y="2331720"/>
            <a:ext cx="1306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50830" y="3284220"/>
            <a:ext cx="1306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中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50830" y="4236720"/>
            <a:ext cx="1306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低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91145" y="4427220"/>
            <a:ext cx="3427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08:00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15070" y="4427220"/>
            <a:ext cx="3427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11:00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48520" y="4427220"/>
            <a:ext cx="3427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15:00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72445" y="4427220"/>
            <a:ext cx="3427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18:00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05895" y="4427220"/>
            <a:ext cx="3427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21:00</a:t>
            </a:r>
          </a:p>
        </p:txBody>
      </p:sp>
      <p:sp>
        <p:nvSpPr>
          <p:cNvPr id="43" name="Polyline 43"/>
          <p:cNvSpPr/>
          <p:nvPr/>
        </p:nvSpPr>
        <p:spPr>
          <a:xfrm>
            <a:off x="4762500" y="2476500"/>
            <a:ext cx="3714750" cy="1619250"/>
          </a:xfrm>
          <a:custGeom>
            <a:avLst/>
            <a:gdLst/>
            <a:ahLst/>
            <a:cxnLst/>
            <a:rect l="l" t="t" r="r" b="b"/>
            <a:pathLst>
              <a:path w="3714750" h="1619250">
                <a:moveTo>
                  <a:pt x="0" y="1619250"/>
                </a:moveTo>
                <a:lnTo>
                  <a:pt x="923925" y="1143000"/>
                </a:lnTo>
                <a:lnTo>
                  <a:pt x="1857375" y="0"/>
                </a:lnTo>
                <a:lnTo>
                  <a:pt x="2781300" y="857250"/>
                </a:lnTo>
                <a:lnTo>
                  <a:pt x="3714750" y="1524000"/>
                </a:lnTo>
              </a:path>
            </a:pathLst>
          </a:custGeom>
          <a:noFill/>
          <a:ln w="28575" cap="rnd">
            <a:solidFill>
              <a:srgbClr val="2E8B57"/>
            </a:solidFill>
            <a:round/>
          </a:ln>
        </p:spPr>
      </p:sp>
      <p:sp>
        <p:nvSpPr>
          <p:cNvPr id="44" name="Ellipse 44"/>
          <p:cNvSpPr/>
          <p:nvPr/>
        </p:nvSpPr>
        <p:spPr>
          <a:xfrm>
            <a:off x="4724400" y="405765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</p:sp>
      <p:sp>
        <p:nvSpPr>
          <p:cNvPr id="45" name="Ellipse 45"/>
          <p:cNvSpPr/>
          <p:nvPr/>
        </p:nvSpPr>
        <p:spPr>
          <a:xfrm>
            <a:off x="5648325" y="35814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</p:sp>
      <p:sp>
        <p:nvSpPr>
          <p:cNvPr id="46" name="Ellipse 46"/>
          <p:cNvSpPr/>
          <p:nvPr/>
        </p:nvSpPr>
        <p:spPr>
          <a:xfrm>
            <a:off x="6562725" y="2419350"/>
            <a:ext cx="114300" cy="114300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7505700" y="329565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8439150" y="39624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143625" y="2095500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1F5C3D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309189" y="2179320"/>
            <a:ext cx="6213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15:00 峰值</a:t>
            </a:r>
          </a:p>
        </p:txBody>
      </p:sp>
      <p:sp>
        <p:nvSpPr>
          <p:cNvPr id="51" name="Line 51"/>
          <p:cNvSpPr/>
          <p:nvPr/>
        </p:nvSpPr>
        <p:spPr>
          <a:xfrm>
            <a:off x="6619875" y="23622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1F5C3D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9144000" y="1428750"/>
            <a:ext cx="2476500" cy="32385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9422130" y="16478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遮光工艺流程</a:t>
            </a:r>
          </a:p>
        </p:txBody>
      </p:sp>
      <p:sp>
        <p:nvSpPr>
          <p:cNvPr id="54" name="Ellipse 54"/>
          <p:cNvSpPr/>
          <p:nvPr/>
        </p:nvSpPr>
        <p:spPr>
          <a:xfrm>
            <a:off x="9315450" y="2076450"/>
            <a:ext cx="228600" cy="2286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390003" y="2141220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F5C3D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661779" y="21088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全窗框覆盖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662922" y="2323624"/>
            <a:ext cx="10599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两名助理协同操作</a:t>
            </a:r>
          </a:p>
        </p:txBody>
      </p:sp>
      <p:sp>
        <p:nvSpPr>
          <p:cNvPr id="58" name="Line 58"/>
          <p:cNvSpPr/>
          <p:nvPr/>
        </p:nvSpPr>
        <p:spPr>
          <a:xfrm>
            <a:off x="9429750" y="23050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D9EADF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9315450" y="2647950"/>
            <a:ext cx="228600" cy="2286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9390003" y="2712720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F5C3D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661779" y="2680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光源点封堵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662922" y="2895124"/>
            <a:ext cx="12633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空调面板/插座指示灯</a:t>
            </a:r>
          </a:p>
        </p:txBody>
      </p:sp>
      <p:sp>
        <p:nvSpPr>
          <p:cNvPr id="63" name="Line 63"/>
          <p:cNvSpPr/>
          <p:nvPr/>
        </p:nvSpPr>
        <p:spPr>
          <a:xfrm>
            <a:off x="9429750" y="28765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D9EADF"/>
            </a:solidFill>
          </a:ln>
        </p:spPr>
      </p:sp>
      <p:sp>
        <p:nvSpPr>
          <p:cNvPr id="64" name="Ellipse 64"/>
          <p:cNvSpPr/>
          <p:nvPr/>
        </p:nvSpPr>
        <p:spPr>
          <a:xfrm>
            <a:off x="9315450" y="3219450"/>
            <a:ext cx="228600" cy="2286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9390003" y="3284220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F5C3D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661779" y="325183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时段规律摸索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662922" y="3466624"/>
            <a:ext cx="11321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避开下午3点高温期</a:t>
            </a:r>
          </a:p>
        </p:txBody>
      </p:sp>
      <p:sp>
        <p:nvSpPr>
          <p:cNvPr id="68" name="Line 68"/>
          <p:cNvSpPr/>
          <p:nvPr/>
        </p:nvSpPr>
        <p:spPr>
          <a:xfrm>
            <a:off x="9429750" y="34480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D9EADF"/>
            </a:solidFill>
          </a:ln>
        </p:spPr>
      </p:sp>
      <p:sp>
        <p:nvSpPr>
          <p:cNvPr id="69" name="Ellipse 69"/>
          <p:cNvSpPr/>
          <p:nvPr/>
        </p:nvSpPr>
        <p:spPr>
          <a:xfrm>
            <a:off x="9315450" y="3790950"/>
            <a:ext cx="228600" cy="2286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9390003" y="3855720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661779" y="382333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自主工艺迭代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662922" y="4038124"/>
            <a:ext cx="12633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改晨间贴附·技术交流</a:t>
            </a:r>
          </a:p>
        </p:txBody>
      </p:sp>
      <p:sp>
        <p:nvSpPr>
          <p:cNvPr id="73" name="Rectangle 73"/>
          <p:cNvSpPr/>
          <p:nvPr/>
        </p:nvSpPr>
        <p:spPr>
          <a:xfrm>
            <a:off x="4286250" y="4857750"/>
            <a:ext cx="733425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74" name="Rectangle 74"/>
          <p:cNvSpPr/>
          <p:nvPr/>
        </p:nvSpPr>
        <p:spPr>
          <a:xfrm>
            <a:off x="4286250" y="4857750"/>
            <a:ext cx="7334250" cy="5715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4564380" y="5076825"/>
            <a:ext cx="2983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核心洞察：隐形劳动的认知差异</a:t>
            </a:r>
          </a:p>
        </p:txBody>
      </p:sp>
      <p:sp>
        <p:nvSpPr>
          <p:cNvPr id="76" name="Rectangle 76"/>
          <p:cNvSpPr/>
          <p:nvPr/>
        </p:nvSpPr>
        <p:spPr>
          <a:xfrm>
            <a:off x="4572000" y="542925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4708779" y="5471160"/>
            <a:ext cx="22172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她知道两个贴胶带女孩的名字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709541" y="567785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对执行层细节的直接掌控</a:t>
            </a:r>
          </a:p>
        </p:txBody>
      </p:sp>
      <p:sp>
        <p:nvSpPr>
          <p:cNvPr id="79" name="Rectangle 79"/>
          <p:cNvSpPr/>
          <p:nvPr/>
        </p:nvSpPr>
        <p:spPr>
          <a:xfrm>
            <a:off x="7429500" y="542925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7566279" y="54711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他不知道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567041" y="567785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系统运作中的认知盲区</a:t>
            </a:r>
          </a:p>
        </p:txBody>
      </p:sp>
      <p:sp>
        <p:nvSpPr>
          <p:cNvPr id="82" name="Rectangle 82"/>
          <p:cNvSpPr/>
          <p:nvPr/>
        </p:nvSpPr>
        <p:spPr>
          <a:xfrm>
            <a:off x="4572000" y="6000750"/>
            <a:ext cx="6762750" cy="266700"/>
          </a:xfrm>
          <a:prstGeom prst="roundRect">
            <a:avLst>
              <a:gd name="adj" fmla="val 21429"/>
            </a:avLst>
          </a:prstGeom>
          <a:solidFill>
            <a:srgbClr val="F4F9F4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6103410" y="6068378"/>
            <a:ext cx="36999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所谓“顶级体验”本质是大量隐形劳动对物理规则的强行扭曲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43534" y="394335"/>
            <a:ext cx="60765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地理套利：从-15℃到27℃的愿望转移</a:t>
            </a:r>
          </a:p>
        </p:txBody>
      </p:sp>
      <p:sp>
        <p:nvSpPr>
          <p:cNvPr id="4" name="Rectangle 4"/>
          <p:cNvSpPr/>
          <p:nvPr/>
        </p:nvSpPr>
        <p:spPr>
          <a:xfrm>
            <a:off x="857250" y="8572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857250" y="1095375"/>
            <a:ext cx="1047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40130" y="11906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核心洞察：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83130" y="1190625"/>
            <a:ext cx="62750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空间位移服务于情绪调节而非目的地本身，地理转换是情绪容器的切换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71500" y="1714500"/>
            <a:ext cx="7278357" cy="4572000"/>
            <a:chOff x="571500" y="1714500"/>
            <a:chExt cx="7278357" cy="45720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5524500" cy="4572000"/>
            </a:xfrm>
            <a:prstGeom prst="roundRect">
              <a:avLst>
                <a:gd name="adj" fmla="val 2917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4118" y="201263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环境参数与决策阈值对比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23812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9050">
              <a:solidFill>
                <a:srgbClr val="8FCDA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6404" y="27279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温度 (℃)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3870960"/>
              <a:ext cx="973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飞行时长 (h)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50139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舒适成本 (万)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97494" y="5759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特纳里费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05000" y="2952750"/>
              <a:ext cx="762000" cy="190500"/>
            </a:xfrm>
            <a:prstGeom prst="roundRect">
              <a:avLst>
                <a:gd name="adj" fmla="val 2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56154" y="296608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C3A33"/>
                  </a:solidFill>
                  <a:latin typeface="Noto Sans CJK SC"/>
                  <a:ea typeface="Noto Sans CJK SC"/>
                  <a:cs typeface="Noto Sans CJK SC"/>
                </a:rPr>
                <a:t>-15℃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905000" y="4095750"/>
              <a:ext cx="95250" cy="190500"/>
            </a:xfrm>
            <a:prstGeom prst="roundRect">
              <a:avLst>
                <a:gd name="adj" fmla="val 4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89404" y="4109085"/>
              <a:ext cx="73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0h (起点)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905000" y="5238750"/>
              <a:ext cx="381000" cy="190500"/>
            </a:xfrm>
            <a:prstGeom prst="roundRect">
              <a:avLst>
                <a:gd name="adj" fmla="val 2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75154" y="525208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3494" y="5759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马尔代夫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91000" y="2952750"/>
              <a:ext cx="2667000" cy="190500"/>
            </a:xfrm>
            <a:prstGeom prst="roundRect">
              <a:avLst>
                <a:gd name="adj" fmla="val 2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7154" y="2966085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27℃ (+42℃)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0" y="4095750"/>
              <a:ext cx="2095500" cy="190500"/>
            </a:xfrm>
            <a:prstGeom prst="roundRect">
              <a:avLst>
                <a:gd name="adj" fmla="val 2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5654" y="4109085"/>
              <a:ext cx="995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11h + 小飞机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91000" y="5238750"/>
              <a:ext cx="1524000" cy="190500"/>
            </a:xfrm>
            <a:prstGeom prst="roundRect">
              <a:avLst>
                <a:gd name="adj" fmla="val 2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4154" y="5252085"/>
              <a:ext cx="1284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8万+ (安全溢价)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048000" y="3492500"/>
              <a:ext cx="1143000" cy="127000"/>
            </a:xfrm>
            <a:custGeom>
              <a:avLst/>
              <a:gdLst/>
              <a:ahLst/>
              <a:cxnLst/>
              <a:rect l="l" t="t" r="r" b="b"/>
              <a:pathLst>
                <a:path w="1143000" h="127000">
                  <a:moveTo>
                    <a:pt x="0" y="127000"/>
                  </a:moveTo>
                  <a:cubicBezTo>
                    <a:pt x="381000" y="0"/>
                    <a:pt x="762000" y="0"/>
                    <a:pt x="1143000" y="127000"/>
                  </a:cubicBezTo>
                </a:path>
              </a:pathLst>
            </a:custGeom>
            <a:noFill/>
            <a:ln w="19050">
              <a:solidFill>
                <a:srgbClr val="8FCDA9"/>
              </a:solidFill>
              <a:custDash>
                <a:ds d="250000" sp="250000"/>
              </a:custDash>
            </a:ln>
          </p:spPr>
        </p:sp>
        <p:sp>
          <p:nvSpPr>
            <p:cNvPr id="29" name="Polygon 29"/>
            <p:cNvSpPr/>
            <p:nvPr/>
          </p:nvSpPr>
          <p:spPr>
            <a:xfrm>
              <a:off x="4143375" y="3571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8FCDA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62897" y="3268028"/>
              <a:ext cx="11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9500km 愿望转移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1714500"/>
            <a:ext cx="5334000" cy="4381500"/>
            <a:chOff x="6286500" y="1714500"/>
            <a:chExt cx="5334000" cy="4381500"/>
          </a:xfrm>
        </p:grpSpPr>
        <p:sp>
          <p:nvSpPr>
            <p:cNvPr id="32" name="Rectangle 32"/>
            <p:cNvSpPr/>
            <p:nvPr/>
          </p:nvSpPr>
          <p:spPr>
            <a:xfrm>
              <a:off x="6286500" y="1714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515100" y="1943100"/>
              <a:ext cx="304800" cy="304800"/>
            </a:xfrm>
            <a:prstGeom prst="ellipse">
              <a:avLst/>
            </a:prstGeom>
            <a:solidFill>
              <a:srgbClr val="F4F9F4"/>
            </a:solidFill>
            <a:ln w="19050">
              <a:solidFill>
                <a:srgbClr val="2E8B57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4758" y="2023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93255" y="1990725"/>
              <a:ext cx="174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舒适度 &gt; 景观价值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642" y="2378392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对小飞机噪音不满，认为“还是大飞机好”。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404" y="268033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揭示舒适阈值优先级高于目的地体验。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86500" y="3238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515100" y="3467100"/>
              <a:ext cx="304800" cy="304800"/>
            </a:xfrm>
            <a:prstGeom prst="ellipse">
              <a:avLst/>
            </a:prstGeom>
            <a:solidFill>
              <a:srgbClr val="F4F9F4"/>
            </a:solidFill>
            <a:ln w="19050">
              <a:solidFill>
                <a:srgbClr val="2E8B57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758" y="3547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93255" y="3514725"/>
              <a:ext cx="1616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8万元的安全逻辑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0642" y="390239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面对前财务人员勒索，拒报警并支付封口费。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404" y="420433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小额支出买断风险，与后续千万级转账形成对照。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86500" y="4762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515100" y="4991100"/>
              <a:ext cx="304800" cy="304800"/>
            </a:xfrm>
            <a:prstGeom prst="ellipse">
              <a:avLst/>
            </a:prstGeom>
            <a:solidFill>
              <a:srgbClr val="F4F9F4"/>
            </a:solidFill>
            <a:ln w="19050">
              <a:solidFill>
                <a:srgbClr val="2E8B57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14758" y="5071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93255" y="50387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万米高空的愿望容器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0642" y="5426392"/>
              <a:ext cx="33357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在A330卧室连星链后提出“代孕生子”。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1404" y="572833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移动场景脱离地面伦理约束，寒冷催生愿望。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36706" y="64427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6477000"/>
            <a:ext cx="11049000" cy="19050"/>
          </a:xfrm>
          <a:prstGeom prst="rect">
            <a:avLst/>
          </a:prstGeom>
          <a:solidFill>
            <a:srgbClr val="D9EADF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57521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暗号交换：前任核对与禁忌词管理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5142" y="949642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核心洞察：亲密关系通过信息管控达成动态平衡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1500" y="1428750"/>
            <a:ext cx="5334000" cy="4762500"/>
            <a:chOff x="571500" y="1428750"/>
            <a:chExt cx="5334000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334000" cy="4762500"/>
            </a:xfrm>
            <a:prstGeom prst="roundRect">
              <a:avLst>
                <a:gd name="adj" fmla="val 28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118" y="172688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信息对称的幻觉与禁忌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0478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rgbClr val="F4F9F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62000" y="2381250"/>
              <a:ext cx="3143250" cy="952500"/>
            </a:xfrm>
            <a:custGeom>
              <a:avLst/>
              <a:gdLst/>
              <a:ahLst/>
              <a:cxnLst/>
              <a:rect l="l" t="t" r="r" b="b"/>
              <a:pathLst>
                <a:path w="3143250" h="952500">
                  <a:moveTo>
                    <a:pt x="190500" y="0"/>
                  </a:moveTo>
                  <a:lnTo>
                    <a:pt x="3048000" y="0"/>
                  </a:lnTo>
                  <a:cubicBezTo>
                    <a:pt x="3100605" y="0"/>
                    <a:pt x="3143250" y="42645"/>
                    <a:pt x="3143250" y="95250"/>
                  </a:cubicBezTo>
                  <a:lnTo>
                    <a:pt x="3143250" y="666750"/>
                  </a:lnTo>
                  <a:cubicBezTo>
                    <a:pt x="3143250" y="719355"/>
                    <a:pt x="3100605" y="762000"/>
                    <a:pt x="3048000" y="762000"/>
                  </a:cubicBezTo>
                  <a:lnTo>
                    <a:pt x="381000" y="762000"/>
                  </a:lnTo>
                  <a:lnTo>
                    <a:pt x="190500" y="952500"/>
                  </a:lnTo>
                  <a:lnTo>
                    <a:pt x="190500" y="762000"/>
                  </a:ln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F5E9"/>
            </a:solidFill>
            <a:ln w="9525">
              <a:solidFill>
                <a:srgbClr val="8FCDA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6904" y="2585085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像交换暗号一样交换前任...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666" y="28394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如同王朝核对年号，建立信息对称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095500" y="3524250"/>
              <a:ext cx="3524250" cy="1143000"/>
            </a:xfrm>
            <a:custGeom>
              <a:avLst/>
              <a:gdLst/>
              <a:ahLst/>
              <a:cxnLst/>
              <a:rect l="l" t="t" r="r" b="b"/>
              <a:pathLst>
                <a:path w="3524250" h="1143000">
                  <a:moveTo>
                    <a:pt x="19050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857250"/>
                  </a:lnTo>
                  <a:cubicBezTo>
                    <a:pt x="3524250" y="909855"/>
                    <a:pt x="3481605" y="952500"/>
                    <a:pt x="3429000" y="952500"/>
                  </a:cubicBezTo>
                  <a:lnTo>
                    <a:pt x="381000" y="952500"/>
                  </a:lnTo>
                  <a:lnTo>
                    <a:pt x="190500" y="1143000"/>
                  </a:lnTo>
                  <a:lnTo>
                    <a:pt x="190500" y="952500"/>
                  </a:ln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2E8B5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70404" y="3680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禁忌词警告：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76500" y="3952875"/>
              <a:ext cx="1333500" cy="228600"/>
            </a:xfrm>
            <a:prstGeom prst="roundRect">
              <a:avLst>
                <a:gd name="adj" fmla="val 16667"/>
              </a:avLst>
            </a:prstGeom>
            <a:solidFill>
              <a:srgbClr val="2C3A3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99916" y="40109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（某运动员）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71166" y="42681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纹身太大洗不掉，选择性透明维稳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09650" y="491490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83767" y="48644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前任信息对称幻觉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09650" y="529590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83767" y="52454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运动员纹身禁忌词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09650" y="567690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83767" y="562641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索尼娃贾尼“无新闻”环境催化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1428750"/>
            <a:ext cx="5334000" cy="4762500"/>
            <a:chOff x="6286500" y="1428750"/>
            <a:chExt cx="5334000" cy="4762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1428750"/>
              <a:ext cx="5334000" cy="4762500"/>
            </a:xfrm>
            <a:prstGeom prst="roundRect">
              <a:avLst>
                <a:gd name="adj" fmla="val 28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59118" y="172688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彩礼博弈与安全感测试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667500" y="20478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rgbClr val="F4F9F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0" y="2286000"/>
              <a:ext cx="4572000" cy="2286000"/>
            </a:xfrm>
            <a:prstGeom prst="roundRect">
              <a:avLst>
                <a:gd name="adj" fmla="val 3333"/>
              </a:avLst>
            </a:prstGeom>
            <a:solidFill>
              <a:srgbClr val="F4F9F4"/>
            </a:solidFill>
            <a:ln w="9525">
              <a:solidFill>
                <a:srgbClr val="8FCDA9"/>
              </a:solidFill>
              <a:prstDash val="dash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68919" y="24898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家庭财务对接回执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858000" y="27622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D9EA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52666" y="2934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收款方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39612" y="2918460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景国庆 / 田心爱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2666" y="3315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转账金额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4142" y="3217545"/>
              <a:ext cx="26365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¥30,000,000.00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666" y="3696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备注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03512" y="3680460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“你得给” → “收到”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906000" y="4095750"/>
              <a:ext cx="952500" cy="28575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80079" y="41729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交易成功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0642" y="480726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心理博弈：“在想你会不会有一次说不”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24650" y="529590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8767" y="524541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3000万彩礼完成首次家庭对接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24650" y="567690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98767" y="56264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不可拒绝性构建虚假安全感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571500" y="6381750"/>
            <a:ext cx="11049000" cy="19050"/>
          </a:xfrm>
          <a:prstGeom prst="rect">
            <a:avLst/>
          </a:prstGeom>
          <a:solidFill>
            <a:srgbClr val="D9EAD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070604" y="64903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i="1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结论：当服从成为默认选项，关系便失去挑战性与生命力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621012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日常侵蚀：撕番位与2007年糊图再现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4380" y="933450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职业焦虑与私人执念在琐碎中相互消解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1428750"/>
            <a:ext cx="5759958" cy="4762500"/>
            <a:chOff x="571500" y="1428750"/>
            <a:chExt cx="5759958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334000" cy="4762500"/>
            </a:xfrm>
            <a:prstGeom prst="roundRect">
              <a:avLst>
                <a:gd name="adj" fmla="val 28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809750"/>
              <a:ext cx="1905000" cy="3619500"/>
            </a:xfrm>
            <a:prstGeom prst="roundRect">
              <a:avLst>
                <a:gd name="adj" fmla="val 10000"/>
              </a:avLst>
            </a:prstGeom>
            <a:solidFill>
              <a:srgbClr val="F4F9F4"/>
            </a:solidFill>
            <a:ln w="19050">
              <a:solidFill>
                <a:srgbClr val="2E8B5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2000250"/>
              <a:ext cx="1714500" cy="32385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828800" y="5448300"/>
              <a:ext cx="152400" cy="152400"/>
            </a:xfrm>
            <a:prstGeom prst="ellipse">
              <a:avLst/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43000" y="2190750"/>
              <a:ext cx="1524000" cy="95250"/>
            </a:xfrm>
            <a:prstGeom prst="roundRect">
              <a:avLst>
                <a:gd name="adj" fmla="val 2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143000" y="2381250"/>
              <a:ext cx="1143000" cy="76200"/>
            </a:xfrm>
            <a:prstGeom prst="roundRect">
              <a:avLst>
                <a:gd name="adj" fmla="val 25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43000" y="2524125"/>
              <a:ext cx="1333500" cy="76200"/>
            </a:xfrm>
            <a:prstGeom prst="roundRect">
              <a:avLst>
                <a:gd name="adj" fmla="val 25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43000" y="2857500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43000" y="2857500"/>
              <a:ext cx="857250" cy="381000"/>
            </a:xfrm>
            <a:prstGeom prst="roundRect">
              <a:avLst>
                <a:gd name="adj" fmla="val 10000"/>
              </a:avLst>
            </a:prstGeom>
            <a:solidFill>
              <a:srgbClr val="2E8B57">
                <a:alpha val="80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809750" y="2857500"/>
              <a:ext cx="857250" cy="381000"/>
            </a:xfrm>
            <a:prstGeom prst="roundRect">
              <a:avLst>
                <a:gd name="adj" fmla="val 10000"/>
              </a:avLst>
            </a:prstGeom>
            <a:solidFill>
              <a:srgbClr val="1F5C3D">
                <a:alpha val="6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29829" y="299847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VS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43000" y="3429000"/>
              <a:ext cx="1524000" cy="57150"/>
            </a:xfrm>
            <a:prstGeom prst="roundRect">
              <a:avLst>
                <a:gd name="adj" fmla="val 5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3000" y="3619500"/>
              <a:ext cx="1333500" cy="57150"/>
            </a:xfrm>
            <a:prstGeom prst="roundRect">
              <a:avLst>
                <a:gd name="adj" fmla="val 5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43000" y="3810000"/>
              <a:ext cx="1428750" cy="57150"/>
            </a:xfrm>
            <a:prstGeom prst="roundRect">
              <a:avLst>
                <a:gd name="adj" fmla="val 50000"/>
              </a:avLst>
            </a:prstGeom>
            <a:solidFill>
              <a:srgbClr val="D9EAD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29356" y="19964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撕番位的反人性常态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238500" y="23336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8FCDA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31642" y="2521268"/>
              <a:ext cx="3099816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“白天撕番位晚上做爱，拍完当没发生”</a:t>
              </a: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她持续观看半小时这种荒诞生态。</a:t>
              </a: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职业场的厮杀与私生活的精致形成互文。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38500" y="37147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 w="9525">
              <a:solidFill>
                <a:srgbClr val="8FCDA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51288" y="38109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职业荒诞性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76750" y="37147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 w="9525">
              <a:solidFill>
                <a:srgbClr val="8FCDA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89538" y="38109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私人精致感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" y="5619750"/>
              <a:ext cx="4572000" cy="381000"/>
            </a:xfrm>
            <a:prstGeom prst="roundRect">
              <a:avLst>
                <a:gd name="adj" fmla="val 20000"/>
              </a:avLst>
            </a:prstGeom>
            <a:solidFill>
              <a:srgbClr val="2E8B57">
                <a:alpha val="1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40052" y="57378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她能容忍他的过去，只要它足够模糊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428750"/>
            <a:ext cx="5334000" cy="4762500"/>
            <a:chOff x="6286500" y="1428750"/>
            <a:chExt cx="5334000" cy="4762500"/>
          </a:xfrm>
        </p:grpSpPr>
        <p:sp>
          <p:nvSpPr>
            <p:cNvPr id="30" name="Rectangle 30"/>
            <p:cNvSpPr/>
            <p:nvPr/>
          </p:nvSpPr>
          <p:spPr>
            <a:xfrm>
              <a:off x="6286500" y="1428750"/>
              <a:ext cx="5334000" cy="4762500"/>
            </a:xfrm>
            <a:prstGeom prst="roundRect">
              <a:avLst>
                <a:gd name="adj" fmla="val 28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21261" y="1693528"/>
              <a:ext cx="1507490" cy="2208483"/>
              <a:chOff x="6621261" y="1693528"/>
              <a:chExt cx="1507490" cy="2208483"/>
            </a:xfrm>
          </p:grpSpPr>
          <p:sp>
            <p:nvSpPr>
              <p:cNvPr id="31" name="Rectangle 31"/>
              <p:cNvSpPr/>
              <p:nvPr/>
            </p:nvSpPr>
            <p:spPr>
              <a:xfrm rot="-300000">
                <a:off x="6731375" y="1748739"/>
                <a:ext cx="1333500" cy="1524000"/>
              </a:xfrm>
              <a:prstGeom prst="roundRect">
                <a:avLst>
                  <a:gd name="adj" fmla="val 2857"/>
                </a:avLst>
              </a:prstGeom>
              <a:solidFill>
                <a:srgbClr val="F4F9F4"/>
              </a:solidFill>
              <a:ln w="19050">
                <a:solidFill>
                  <a:srgbClr val="D9EADF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 rot="300000">
                <a:off x="6685136" y="1968151"/>
                <a:ext cx="1333500" cy="1524000"/>
              </a:xfrm>
              <a:prstGeom prst="roundRect">
                <a:avLst>
                  <a:gd name="adj" fmla="val 2857"/>
                </a:avLst>
              </a:prstGeom>
              <a:solidFill>
                <a:srgbClr val="FFFFFF"/>
              </a:solidFill>
              <a:ln w="19050">
                <a:solidFill>
                  <a:srgbClr val="8FCDA9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7143750" y="2190750"/>
                <a:ext cx="571500" cy="571500"/>
              </a:xfrm>
              <a:prstGeom prst="ellipse">
                <a:avLst/>
              </a:prstGeom>
              <a:solidFill>
                <a:srgbClr val="D9EADF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7048500" y="2857500"/>
                <a:ext cx="762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D9EADF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953707" y="3696652"/>
                <a:ext cx="9515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837A"/>
                    </a:solidFill>
                    <a:latin typeface="Noto Sans CJK SC"/>
                    <a:ea typeface="Microsoft YaHei"/>
                    <a:cs typeface="Noto Sans CJK SC"/>
                  </a:rPr>
                  <a:t>2007 QQ 糊图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372856" y="19964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糊图作为安全阀机制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382000" y="23336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8FCDA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75142" y="2521268"/>
              <a:ext cx="2585466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删图又找回的执念循环。</a:t>
              </a: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因图太糊而不构成实质威胁。</a:t>
              </a: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既满足怀旧，又不威胁当下地位。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667500" y="4286250"/>
              <a:ext cx="4745736" cy="1524000"/>
              <a:chOff x="6667500" y="4286250"/>
              <a:chExt cx="4745736" cy="15240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667500" y="4286250"/>
                <a:ext cx="4572000" cy="1524000"/>
              </a:xfrm>
              <a:prstGeom prst="roundRect">
                <a:avLst>
                  <a:gd name="adj" fmla="val 6250"/>
                </a:avLst>
              </a:prstGeom>
              <a:solidFill>
                <a:srgbClr val="F4F9F4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48500" y="5048250"/>
                <a:ext cx="571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81000">
                    <a:moveTo>
                      <a:pt x="0" y="381000"/>
                    </a:moveTo>
                    <a:lnTo>
                      <a:pt x="571500" y="381000"/>
                    </a:lnTo>
                    <a:lnTo>
                      <a:pt x="4762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rgbClr val="8FCDA9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7191375" y="4714875"/>
                <a:ext cx="285750" cy="28575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001000" y="5048250"/>
                <a:ext cx="571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81000">
                    <a:moveTo>
                      <a:pt x="0" y="381000"/>
                    </a:moveTo>
                    <a:lnTo>
                      <a:pt x="571500" y="381000"/>
                    </a:lnTo>
                    <a:lnTo>
                      <a:pt x="4762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rgbClr val="8FCDA9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8143875" y="4714875"/>
                <a:ext cx="285750" cy="28575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945880" y="4600575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5C3D"/>
                    </a:solidFill>
                    <a:latin typeface="Noto Sans CJK SC"/>
                    <a:ea typeface="Microsoft YaHei"/>
                    <a:cs typeface="Noto Sans CJK SC"/>
                  </a:rPr>
                  <a:t>匿名用餐的奢侈体验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947404" y="4918710"/>
                <a:ext cx="246583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摘下墨镜帽子，无人认出。</a:t>
                </a:r>
                <a:r>
                  <a:rPr lang="zh-CN" sz="1200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“不被看见”的自由成为最高级享受。</a:t>
                </a:r>
              </a:p>
            </p:txBody>
          </p:sp>
        </p:grpSp>
      </p:grpSp>
      <p:sp>
        <p:nvSpPr>
          <p:cNvPr id="49" name="Line 49"/>
          <p:cNvSpPr/>
          <p:nvPr/>
        </p:nvSpPr>
        <p:spPr>
          <a:xfrm>
            <a:off x="5905500" y="38100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8FCDA9"/>
            </a:solidFill>
            <a:prstDash val="dash"/>
          </a:ln>
        </p:spPr>
      </p:sp>
      <p:sp>
        <p:nvSpPr>
          <p:cNvPr id="50" name="Ellipse 50"/>
          <p:cNvSpPr/>
          <p:nvPr/>
        </p:nvSpPr>
        <p:spPr>
          <a:xfrm>
            <a:off x="6038850" y="3752850"/>
            <a:ext cx="114300" cy="1143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454528" y="6458902"/>
            <a:ext cx="32829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明星身份在此刻既是负担也是筹码 · 关系的脆弱平衡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57521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求婚与限额：钻戒尺寸与五卡轮转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4380" y="1028700"/>
            <a:ext cx="62750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核心洞察：仪式感被效率逻辑彻底殖民，情感表达让位于资金流转效率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2095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38100" cap="rnd">
            <a:solidFill>
              <a:srgbClr val="8FCDA9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790700" y="19812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8B57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368838" y="1680210"/>
            <a:ext cx="10723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1月2日 · 求婚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2381250"/>
            <a:ext cx="1905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1762125" y="2524125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142875"/>
                </a:moveTo>
                <a:lnTo>
                  <a:pt x="142875" y="0"/>
                </a:lnTo>
                <a:lnTo>
                  <a:pt x="285750" y="142875"/>
                </a:lnTo>
                <a:lnTo>
                  <a:pt x="142875" y="381000"/>
                </a:lnTo>
                <a:close/>
              </a:path>
            </a:pathLst>
          </a:custGeom>
          <a:solidFill>
            <a:srgbClr val="8FCDA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16494" y="2997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酒店信封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9221" y="3268028"/>
            <a:ext cx="7315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“钻戒太小”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7194" y="3458528"/>
            <a:ext cx="11556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接受“以后补大的”</a:t>
            </a:r>
          </a:p>
        </p:txBody>
      </p:sp>
      <p:sp>
        <p:nvSpPr>
          <p:cNvPr id="14" name="Ellipse 14"/>
          <p:cNvSpPr/>
          <p:nvPr/>
        </p:nvSpPr>
        <p:spPr>
          <a:xfrm>
            <a:off x="5981700" y="19812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8B5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68319" y="1680210"/>
            <a:ext cx="10553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筹备期 · 转账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81500" y="2381250"/>
            <a:ext cx="3429000" cy="20955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659630" y="26003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五卡轮转突破限额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61916" y="2887028"/>
            <a:ext cx="25055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单日单卡100万限额太慢，要求多卡并行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667250" y="3238500"/>
            <a:ext cx="2762250" cy="602932"/>
            <a:chOff x="4667250" y="3238500"/>
            <a:chExt cx="2762250" cy="602932"/>
          </a:xfrm>
        </p:grpSpPr>
        <p:sp>
          <p:nvSpPr>
            <p:cNvPr id="19" name="Rectangle 19"/>
            <p:cNvSpPr/>
            <p:nvPr/>
          </p:nvSpPr>
          <p:spPr>
            <a:xfrm>
              <a:off x="4667250" y="3238500"/>
              <a:ext cx="476250" cy="333375"/>
            </a:xfrm>
            <a:prstGeom prst="roundRect">
              <a:avLst>
                <a:gd name="adj" fmla="val 11429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55223" y="3665220"/>
              <a:ext cx="3003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C3A33"/>
                  </a:solidFill>
                  <a:latin typeface="Noto Sans CJK SC"/>
                  <a:ea typeface="Noto Sans CJK SC"/>
                  <a:cs typeface="Noto Sans CJK SC"/>
                </a:rPr>
                <a:t>100w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238750" y="3238500"/>
              <a:ext cx="476250" cy="333375"/>
            </a:xfrm>
            <a:prstGeom prst="roundRect">
              <a:avLst>
                <a:gd name="adj" fmla="val 11429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26723" y="3665220"/>
              <a:ext cx="3003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C3A33"/>
                  </a:solidFill>
                  <a:latin typeface="Noto Sans CJK SC"/>
                  <a:ea typeface="Noto Sans CJK SC"/>
                  <a:cs typeface="Noto Sans CJK SC"/>
                </a:rPr>
                <a:t>100w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10250" y="3238500"/>
              <a:ext cx="476250" cy="333375"/>
            </a:xfrm>
            <a:prstGeom prst="roundRect">
              <a:avLst>
                <a:gd name="adj" fmla="val 11429"/>
              </a:avLst>
            </a:prstGeom>
            <a:solidFill>
              <a:srgbClr val="8FCDA9"/>
            </a:solidFill>
            <a:ln w="19050">
              <a:solidFill>
                <a:srgbClr val="2E8B57"/>
              </a:solidFill>
              <a:custDash>
                <a:ds d="200000" sp="100000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16397" y="36652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犹豫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381750" y="3238500"/>
              <a:ext cx="476250" cy="333375"/>
            </a:xfrm>
            <a:prstGeom prst="roundRect">
              <a:avLst>
                <a:gd name="adj" fmla="val 11429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69723" y="3665220"/>
              <a:ext cx="3003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C3A33"/>
                  </a:solidFill>
                  <a:latin typeface="Noto Sans CJK SC"/>
                  <a:ea typeface="Noto Sans CJK SC"/>
                  <a:cs typeface="Noto Sans CJK SC"/>
                </a:rPr>
                <a:t>100w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953250" y="3238500"/>
              <a:ext cx="476250" cy="333375"/>
            </a:xfrm>
            <a:prstGeom prst="roundRect">
              <a:avLst>
                <a:gd name="adj" fmla="val 11429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41223" y="3665220"/>
              <a:ext cx="3003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C3A33"/>
                  </a:solidFill>
                  <a:latin typeface="Noto Sans CJK SC"/>
                  <a:ea typeface="Noto Sans CJK SC"/>
                  <a:cs typeface="Noto Sans CJK SC"/>
                </a:rPr>
                <a:t>100w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661916" y="3982402"/>
            <a:ext cx="22864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她的“没事”是对资源配置的临时认可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61916" y="417290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他的犹豫是系统过载的瞬间卡顿</a:t>
            </a:r>
          </a:p>
        </p:txBody>
      </p:sp>
      <p:sp>
        <p:nvSpPr>
          <p:cNvPr id="32" name="Ellipse 32"/>
          <p:cNvSpPr/>
          <p:nvPr/>
        </p:nvSpPr>
        <p:spPr>
          <a:xfrm>
            <a:off x="10172700" y="19812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8B57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844129" y="16802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春节 · 维港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334500" y="2381250"/>
            <a:ext cx="1905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10144125" y="2571750"/>
            <a:ext cx="285750" cy="476250"/>
          </a:xfrm>
          <a:prstGeom prst="roundRect">
            <a:avLst>
              <a:gd name="adj" fmla="val 20000"/>
            </a:avLst>
          </a:prstGeom>
          <a:solidFill>
            <a:srgbClr val="2C3A33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10229850" y="2657475"/>
            <a:ext cx="114300" cy="114300"/>
          </a:xfrm>
          <a:prstGeom prst="ellipse">
            <a:avLst/>
          </a:prstGeom>
          <a:solidFill>
            <a:srgbClr val="6E837A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10229850" y="2847975"/>
            <a:ext cx="114300" cy="1143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0229850" y="2657475"/>
            <a:ext cx="114300" cy="114300"/>
          </a:xfrm>
          <a:prstGeom prst="ellipse">
            <a:avLst/>
          </a:prstGeom>
          <a:solidFill>
            <a:srgbClr val="2E8B57">
              <a:alpha val="80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707670" y="3140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凌晨三点红灯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5586" y="34109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空无一车仍停车等待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16262" y="36014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仅存的机械仪式感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4953000"/>
            <a:ext cx="11049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71500" y="4953000"/>
            <a:ext cx="76200" cy="13335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43356" y="5139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叙事总结：浪漫流程化</a:t>
            </a:r>
          </a:p>
        </p:txBody>
      </p:sp>
      <p:sp>
        <p:nvSpPr>
          <p:cNvPr id="45" name="Ellipse 45"/>
          <p:cNvSpPr/>
          <p:nvPr/>
        </p:nvSpPr>
        <p:spPr>
          <a:xfrm>
            <a:off x="1009650" y="5676900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231392" y="5626418"/>
            <a:ext cx="49206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求婚决定于元旦早晨，戒指由助理采购，装在酒店信封中带回</a:t>
            </a:r>
          </a:p>
        </p:txBody>
      </p:sp>
      <p:sp>
        <p:nvSpPr>
          <p:cNvPr id="47" name="Ellipse 47"/>
          <p:cNvSpPr/>
          <p:nvPr/>
        </p:nvSpPr>
        <p:spPr>
          <a:xfrm>
            <a:off x="1009650" y="6010275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231392" y="5959792"/>
            <a:ext cx="51205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当被问及为何对她好，回答“喜欢你”后，她追问过往并一笑置之</a:t>
            </a:r>
          </a:p>
        </p:txBody>
      </p:sp>
      <p:sp>
        <p:nvSpPr>
          <p:cNvPr id="49" name="Line 49"/>
          <p:cNvSpPr/>
          <p:nvPr/>
        </p:nvSpPr>
        <p:spPr>
          <a:xfrm>
            <a:off x="1905000" y="22098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9050">
            <a:solidFill>
              <a:srgbClr val="8FCDA9"/>
            </a:solidFill>
            <a:prstDash val="sysDot"/>
          </a:ln>
        </p:spPr>
      </p:sp>
      <p:sp>
        <p:nvSpPr>
          <p:cNvPr id="50" name="Line 50"/>
          <p:cNvSpPr/>
          <p:nvPr/>
        </p:nvSpPr>
        <p:spPr>
          <a:xfrm>
            <a:off x="6096000" y="22098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9050">
            <a:solidFill>
              <a:srgbClr val="8FCDA9"/>
            </a:solidFill>
            <a:prstDash val="sysDot"/>
          </a:ln>
        </p:spPr>
      </p:sp>
      <p:sp>
        <p:nvSpPr>
          <p:cNvPr id="51" name="Line 51"/>
          <p:cNvSpPr/>
          <p:nvPr/>
        </p:nvSpPr>
        <p:spPr>
          <a:xfrm>
            <a:off x="10287000" y="22098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9050">
            <a:solidFill>
              <a:srgbClr val="8FCDA9"/>
            </a:solidFill>
            <a:prstDash val="sysDot"/>
          </a:ln>
        </p:spPr>
      </p:sp>
      <p:sp>
        <p:nvSpPr>
          <p:cNvPr id="52" name="TextBox 52"/>
          <p:cNvSpPr txBox="1"/>
          <p:nvPr/>
        </p:nvSpPr>
        <p:spPr>
          <a:xfrm>
            <a:off x="10883341" y="6458902"/>
            <a:ext cx="7424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11 / PPT版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86384" y="356235"/>
            <a:ext cx="56124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医疗账单：AMH检测与隐形付出</a:t>
            </a:r>
          </a:p>
        </p:txBody>
      </p:sp>
      <p:sp>
        <p:nvSpPr>
          <p:cNvPr id="4" name="Rectangle 4"/>
          <p:cNvSpPr/>
          <p:nvPr/>
        </p:nvSpPr>
        <p:spPr>
          <a:xfrm>
            <a:off x="800100" y="800100"/>
            <a:ext cx="571500" cy="38100"/>
          </a:xfrm>
          <a:prstGeom prst="rect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04775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92480" y="11525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核心洞察：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2130" y="1152525"/>
            <a:ext cx="72847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生育准备以月度付款单项形式进入财务系统，身体痛苦被转化为冷冰冰的审批条目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714500"/>
            <a:ext cx="5334000" cy="4572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714500"/>
            <a:ext cx="5334000" cy="476250"/>
          </a:xfrm>
          <a:prstGeom prst="roundRect">
            <a:avLst>
              <a:gd name="adj" fmla="val 28000"/>
            </a:avLst>
          </a:prstGeom>
          <a:solidFill>
            <a:srgbClr val="2E8B57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2000250"/>
            <a:ext cx="5334000" cy="190500"/>
          </a:xfrm>
          <a:prstGeom prst="rect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48868" y="1841182"/>
            <a:ext cx="41371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临床检查执行清单 (Clinical Checklist)</a:t>
            </a:r>
          </a:p>
        </p:txBody>
      </p:sp>
      <p:sp>
        <p:nvSpPr>
          <p:cNvPr id="12" name="Ellipse 12"/>
          <p:cNvSpPr/>
          <p:nvPr/>
        </p:nvSpPr>
        <p:spPr>
          <a:xfrm>
            <a:off x="800100" y="2419350"/>
            <a:ext cx="114300" cy="1143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40892" y="23879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时间窗口限制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1654" y="2632710"/>
            <a:ext cx="30330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月经周期第2-3天 · 清晨06:00 · 严格空腹</a:t>
            </a:r>
          </a:p>
        </p:txBody>
      </p:sp>
      <p:sp>
        <p:nvSpPr>
          <p:cNvPr id="15" name="Line 15"/>
          <p:cNvSpPr/>
          <p:nvPr/>
        </p:nvSpPr>
        <p:spPr>
          <a:xfrm>
            <a:off x="857250" y="29527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00100" y="3143250"/>
            <a:ext cx="114300" cy="1143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40892" y="31118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采样强度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654" y="3356610"/>
            <a:ext cx="2895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单次静脉采血8管 · 北京寒冬 · 天色未亮</a:t>
            </a:r>
          </a:p>
        </p:txBody>
      </p:sp>
      <p:sp>
        <p:nvSpPr>
          <p:cNvPr id="19" name="Line 19"/>
          <p:cNvSpPr/>
          <p:nvPr/>
        </p:nvSpPr>
        <p:spPr>
          <a:xfrm>
            <a:off x="857250" y="36766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00100" y="3867150"/>
            <a:ext cx="114300" cy="1143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40892" y="38357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核心检测项目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1654" y="4080510"/>
            <a:ext cx="33918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激素六项 + B超监测 + AMH(抗缪勒氏管激素)</a:t>
            </a:r>
          </a:p>
        </p:txBody>
      </p:sp>
      <p:sp>
        <p:nvSpPr>
          <p:cNvPr id="23" name="Line 23"/>
          <p:cNvSpPr/>
          <p:nvPr/>
        </p:nvSpPr>
        <p:spPr>
          <a:xfrm>
            <a:off x="857250" y="44005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62000" y="4533900"/>
            <a:ext cx="4953000" cy="666750"/>
          </a:xfrm>
          <a:prstGeom prst="roundRect">
            <a:avLst>
              <a:gd name="adj" fmla="val 11429"/>
            </a:avLst>
          </a:prstGeom>
          <a:solidFill>
            <a:srgbClr val="F4F9F4"/>
          </a:solidFill>
          <a:ln w="9525">
            <a:solidFill>
              <a:srgbClr val="8FCDA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45642" y="4635818"/>
            <a:ext cx="12537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AMH 数值意义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6404" y="4899660"/>
            <a:ext cx="36065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评估卵巢储备 → 决定“值不值得往下走”的关键指标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143500" y="22860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8FCDA9">
              <a:alpha val="30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334000" y="2381250"/>
            <a:ext cx="114300" cy="285750"/>
          </a:xfrm>
          <a:prstGeom prst="roundRect">
            <a:avLst>
              <a:gd name="adj" fmla="val 50000"/>
            </a:avLst>
          </a:prstGeom>
          <a:solidFill>
            <a:srgbClr val="8FCDA9">
              <a:alpha val="3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524500" y="2190750"/>
            <a:ext cx="114300" cy="476250"/>
          </a:xfrm>
          <a:prstGeom prst="roundRect">
            <a:avLst>
              <a:gd name="adj" fmla="val 50000"/>
            </a:avLst>
          </a:prstGeom>
          <a:solidFill>
            <a:srgbClr val="8FCDA9">
              <a:alpha val="30000"/>
            </a:srgbClr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286500" y="1714500"/>
            <a:ext cx="5334000" cy="4572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563868" y="1879282"/>
            <a:ext cx="28155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月度辅助生殖项目支出汇总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0904" y="19278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状态：已审批</a:t>
            </a:r>
          </a:p>
        </p:txBody>
      </p:sp>
      <p:sp>
        <p:nvSpPr>
          <p:cNvPr id="33" name="Line 33"/>
          <p:cNvSpPr/>
          <p:nvPr/>
        </p:nvSpPr>
        <p:spPr>
          <a:xfrm>
            <a:off x="6572250" y="21907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19050">
            <a:solidFill>
              <a:srgbClr val="2E8B57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566154" y="2346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项目名称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47404" y="234696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频次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90404" y="234696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备注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96348" y="2346960"/>
            <a:ext cx="8634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金额(CNY)</a:t>
            </a:r>
          </a:p>
        </p:txBody>
      </p:sp>
      <p:sp>
        <p:nvSpPr>
          <p:cNvPr id="38" name="Line 38"/>
          <p:cNvSpPr/>
          <p:nvPr/>
        </p:nvSpPr>
        <p:spPr>
          <a:xfrm>
            <a:off x="6572250" y="26098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565392" y="27689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性激素六项测定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946642" y="2768918"/>
            <a:ext cx="5771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1次/月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90404" y="27851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基础评估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73683" y="2768918"/>
            <a:ext cx="7679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rgbClr val="2C3A33"/>
                </a:solidFill>
                <a:latin typeface="Noto Sans CJK SC"/>
                <a:ea typeface="Noto Sans CJK SC"/>
                <a:cs typeface="Noto Sans CJK SC"/>
              </a:rPr>
              <a:t>¥ 380.00</a:t>
            </a:r>
          </a:p>
        </p:txBody>
      </p:sp>
      <p:sp>
        <p:nvSpPr>
          <p:cNvPr id="43" name="Line 43"/>
          <p:cNvSpPr/>
          <p:nvPr/>
        </p:nvSpPr>
        <p:spPr>
          <a:xfrm>
            <a:off x="6572250" y="30861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9EADF"/>
            </a:solidFill>
            <a:prstDash val="dash"/>
          </a:ln>
        </p:spPr>
      </p:sp>
      <p:sp>
        <p:nvSpPr>
          <p:cNvPr id="44" name="TextBox 44"/>
          <p:cNvSpPr txBox="1"/>
          <p:nvPr/>
        </p:nvSpPr>
        <p:spPr>
          <a:xfrm>
            <a:off x="6565392" y="3245168"/>
            <a:ext cx="12714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经阴道B超监测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946642" y="3245168"/>
            <a:ext cx="5771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3次/月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090404" y="32613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卵泡追踪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573683" y="3245168"/>
            <a:ext cx="7679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rgbClr val="2C3A33"/>
                </a:solidFill>
                <a:latin typeface="Noto Sans CJK SC"/>
                <a:ea typeface="Noto Sans CJK SC"/>
                <a:cs typeface="Noto Sans CJK SC"/>
              </a:rPr>
              <a:t>¥ 450.00</a:t>
            </a:r>
          </a:p>
        </p:txBody>
      </p:sp>
      <p:sp>
        <p:nvSpPr>
          <p:cNvPr id="48" name="Line 48"/>
          <p:cNvSpPr/>
          <p:nvPr/>
        </p:nvSpPr>
        <p:spPr>
          <a:xfrm>
            <a:off x="6572250" y="35623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9EADF"/>
            </a:solidFill>
            <a:prstDash val="dash"/>
          </a:ln>
        </p:spPr>
      </p:sp>
      <p:sp>
        <p:nvSpPr>
          <p:cNvPr id="49" name="Rectangle 49"/>
          <p:cNvSpPr/>
          <p:nvPr/>
        </p:nvSpPr>
        <p:spPr>
          <a:xfrm>
            <a:off x="6477000" y="3657600"/>
            <a:ext cx="4953000" cy="419100"/>
          </a:xfrm>
          <a:prstGeom prst="roundRect">
            <a:avLst>
              <a:gd name="adj" fmla="val 9091"/>
            </a:avLst>
          </a:prstGeom>
          <a:solidFill>
            <a:srgbClr val="F4F9F4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477000" y="36576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622542" y="3778568"/>
            <a:ext cx="18585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AMH 抗缪勒氏管激素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946642" y="3778568"/>
            <a:ext cx="6052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1次/季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090404" y="3794760"/>
            <a:ext cx="6215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核心KPI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13991" y="3762375"/>
            <a:ext cx="11283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b="1" dirty="0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¥ 2,800.00</a:t>
            </a:r>
          </a:p>
        </p:txBody>
      </p:sp>
      <p:sp>
        <p:nvSpPr>
          <p:cNvPr id="55" name="Line 55"/>
          <p:cNvSpPr/>
          <p:nvPr/>
        </p:nvSpPr>
        <p:spPr>
          <a:xfrm>
            <a:off x="6572250" y="41719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9EADF"/>
            </a:solidFill>
            <a:prstDash val="dash"/>
          </a:ln>
        </p:spPr>
      </p:sp>
      <p:sp>
        <p:nvSpPr>
          <p:cNvPr id="56" name="TextBox 56"/>
          <p:cNvSpPr txBox="1"/>
          <p:nvPr/>
        </p:nvSpPr>
        <p:spPr>
          <a:xfrm>
            <a:off x="6565392" y="431196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其他辅助用药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946642" y="431196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按需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090404" y="43281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营养补充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373773" y="43119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rgbClr val="2C3A33"/>
                </a:solidFill>
                <a:latin typeface="Noto Sans CJK SC"/>
                <a:ea typeface="Noto Sans CJK SC"/>
                <a:cs typeface="Noto Sans CJK SC"/>
              </a:rPr>
              <a:t>¥ 1,200.00</a:t>
            </a:r>
          </a:p>
        </p:txBody>
      </p:sp>
      <p:sp>
        <p:nvSpPr>
          <p:cNvPr id="60" name="Line 60"/>
          <p:cNvSpPr/>
          <p:nvPr/>
        </p:nvSpPr>
        <p:spPr>
          <a:xfrm>
            <a:off x="6572250" y="46291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19050">
            <a:solidFill>
              <a:srgbClr val="2E8B57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326880" y="47910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本月合计：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765687" y="4726305"/>
            <a:ext cx="15797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100" b="1" dirty="0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¥ 4,830.00</a:t>
            </a:r>
          </a:p>
        </p:txBody>
      </p:sp>
      <p:sp>
        <p:nvSpPr>
          <p:cNvPr id="63" name="Rectangle 63"/>
          <p:cNvSpPr/>
          <p:nvPr/>
        </p:nvSpPr>
        <p:spPr>
          <a:xfrm>
            <a:off x="10096500" y="5143500"/>
            <a:ext cx="1143000" cy="381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2E8B57">
                <a:alpha val="60000"/>
              </a:srgbClr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10279494" y="52454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8B57">
                    <a:alphaMod val="60000"/>
                  </a:srgbClr>
                </a:solidFill>
                <a:latin typeface="Noto Sans CJK SC"/>
                <a:ea typeface="Microsoft YaHei"/>
                <a:cs typeface="Noto Sans CJK SC"/>
              </a:rPr>
              <a:t>批得很快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6477000"/>
            <a:ext cx="11049000" cy="19050"/>
          </a:xfrm>
          <a:prstGeom prst="rect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66166" y="6592252"/>
            <a:ext cx="70782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注：叙事者事后才知这些是生育能力评估关键指标。她的身体痛苦被转化为财务条目，他的关心止步于审批动作。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575358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房产筛选：视频影子与G700起飞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1047750"/>
            <a:ext cx="10668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5642" y="11496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核心洞察：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98142" y="1149668"/>
            <a:ext cx="58293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代理看房与紧急离港暴露信任赤字，高度警觉主体需持续验证环境可控性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714500"/>
            <a:ext cx="5143500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40130" y="1885950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视频影子的信任隐喻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47750" y="2238375"/>
            <a:ext cx="1905000" cy="1333500"/>
          </a:xfrm>
          <a:prstGeom prst="roundRect">
            <a:avLst>
              <a:gd name="adj" fmla="val 2857"/>
            </a:avLst>
          </a:prstGeom>
          <a:solidFill>
            <a:srgbClr val="F4F9F4"/>
          </a:solidFill>
          <a:ln w="9525">
            <a:solidFill>
              <a:srgbClr val="8FCDA9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1238250" y="266700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0" y="666750"/>
                </a:moveTo>
                <a:lnTo>
                  <a:pt x="285750" y="0"/>
                </a:lnTo>
                <a:lnTo>
                  <a:pt x="571500" y="666750"/>
                </a:lnTo>
                <a:close/>
              </a:path>
            </a:pathLst>
          </a:custGeom>
          <a:solidFill>
            <a:srgbClr val="D9EADF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333625" y="2428875"/>
            <a:ext cx="285750" cy="285750"/>
          </a:xfrm>
          <a:prstGeom prst="ellipse">
            <a:avLst/>
          </a:prstGeom>
          <a:solidFill>
            <a:srgbClr val="2E8B57">
              <a:alpha val="30000"/>
            </a:srgbClr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2476500" y="2714625"/>
            <a:ext cx="9525" cy="523875"/>
          </a:xfrm>
          <a:custGeom>
            <a:avLst/>
            <a:gdLst/>
            <a:ahLst/>
            <a:cxnLst/>
            <a:rect l="l" t="t" r="r" b="b"/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19050">
            <a:solidFill>
              <a:srgbClr val="2E8B57">
                <a:alpha val="3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137154" y="2346960"/>
            <a:ext cx="2122932" cy="9204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129540" indent="-129540">
              <a:lnSpc>
                <a:spcPts val="1800"/>
              </a:lnSpc>
              <a:buClr>
                <a:srgbClr val="2C3A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镜头晃动暴露拍摄者存在</a:t>
            </a:r>
          </a:p>
          <a:p>
            <a:pPr algn="l" marL="129540" indent="-129540">
              <a:lnSpc>
                <a:spcPts val="1800"/>
              </a:lnSpc>
              <a:buClr>
                <a:srgbClr val="2C3A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影子引发对中介链条的不安</a:t>
            </a:r>
          </a:p>
          <a:p>
            <a:pPr algn="l" marL="129540" indent="-129540">
              <a:lnSpc>
                <a:spcPts val="1800"/>
              </a:lnSpc>
              <a:buClr>
                <a:srgbClr val="2C3A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思考：此人走了多少路？</a:t>
            </a:r>
          </a:p>
          <a:p>
            <a:pPr algn="l" marL="129540" indent="-129540">
              <a:lnSpc>
                <a:spcPts val="1800"/>
              </a:lnSpc>
              <a:buClr>
                <a:srgbClr val="2C3A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质疑：是否知道房子给谁看？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4191000"/>
            <a:ext cx="5143500" cy="20955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40130" y="4362450"/>
            <a:ext cx="21355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马尔代夫身份释放实验</a:t>
            </a:r>
          </a:p>
        </p:txBody>
      </p:sp>
      <p:sp>
        <p:nvSpPr>
          <p:cNvPr id="17" name="Ellipse 17"/>
          <p:cNvSpPr/>
          <p:nvPr/>
        </p:nvSpPr>
        <p:spPr>
          <a:xfrm>
            <a:off x="1143000" y="4953000"/>
            <a:ext cx="571500" cy="571500"/>
          </a:xfrm>
          <a:prstGeom prst="ellipse">
            <a:avLst/>
          </a:prstGeom>
          <a:solidFill>
            <a:srgbClr val="F4F9F4"/>
          </a:solidFill>
          <a:ln w="19050">
            <a:solidFill>
              <a:srgbClr val="8FCDA9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1285875" y="5143500"/>
            <a:ext cx="285750" cy="127000"/>
          </a:xfrm>
          <a:custGeom>
            <a:avLst/>
            <a:gdLst/>
            <a:ahLst/>
            <a:cxnLst/>
            <a:rect l="l" t="t" r="r" b="b"/>
            <a:pathLst>
              <a:path w="285750" h="127000">
                <a:moveTo>
                  <a:pt x="0" y="0"/>
                </a:moveTo>
                <a:cubicBezTo>
                  <a:pt x="95250" y="127000"/>
                  <a:pt x="190500" y="127000"/>
                  <a:pt x="285750" y="0"/>
                </a:cubicBezTo>
              </a:path>
            </a:pathLst>
          </a:custGeom>
          <a:noFill/>
          <a:ln w="19050">
            <a:solidFill>
              <a:srgbClr val="2E8B57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1238250" y="5000625"/>
            <a:ext cx="381000" cy="9525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994154" y="4918710"/>
            <a:ext cx="1970532" cy="9204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129540" indent="-129540">
              <a:lnSpc>
                <a:spcPts val="1800"/>
              </a:lnSpc>
              <a:buClr>
                <a:srgbClr val="2C3A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14天未被认出的安全测试</a:t>
            </a:r>
          </a:p>
          <a:p>
            <a:pPr algn="l" marL="129540" indent="-129540">
              <a:lnSpc>
                <a:spcPts val="1800"/>
              </a:lnSpc>
              <a:buClr>
                <a:srgbClr val="2C3A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摘帽用餐：短暂的身份释放</a:t>
            </a:r>
          </a:p>
          <a:p>
            <a:pPr algn="l" marL="129540" indent="-129540">
              <a:lnSpc>
                <a:spcPts val="1800"/>
              </a:lnSpc>
              <a:buClr>
                <a:srgbClr val="2C3A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餐后戴回：防御机制重启</a:t>
            </a:r>
          </a:p>
          <a:p>
            <a:pPr algn="l" marL="129540" indent="-129540">
              <a:lnSpc>
                <a:spcPts val="1800"/>
              </a:lnSpc>
              <a:buClr>
                <a:srgbClr val="2C3A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验证环境安全性与隐私边界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1714500"/>
            <a:ext cx="5143500" cy="4572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564630" y="1885950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行为轨迹与心理验证</a:t>
            </a:r>
          </a:p>
        </p:txBody>
      </p:sp>
      <p:sp>
        <p:nvSpPr>
          <p:cNvPr id="23" name="Line 23"/>
          <p:cNvSpPr/>
          <p:nvPr/>
        </p:nvSpPr>
        <p:spPr>
          <a:xfrm>
            <a:off x="6858000" y="2381250"/>
            <a:ext cx="9525" cy="3524250"/>
          </a:xfrm>
          <a:custGeom>
            <a:avLst/>
            <a:gdLst/>
            <a:ahLst/>
            <a:cxnLst/>
            <a:rect l="l" t="t" r="r" b="b"/>
            <a:pathLst>
              <a:path w="9525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19050">
            <a:solidFill>
              <a:srgbClr val="8FCDA9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6800850" y="2514600"/>
            <a:ext cx="114300" cy="1143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90029" y="2394585"/>
            <a:ext cx="10214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2月25日 抵港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90791" y="2601278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坚持先看房再飞洛杉矶，否决十几套房源</a:t>
            </a:r>
          </a:p>
        </p:txBody>
      </p:sp>
      <p:sp>
        <p:nvSpPr>
          <p:cNvPr id="27" name="Ellipse 27"/>
          <p:cNvSpPr/>
          <p:nvPr/>
        </p:nvSpPr>
        <p:spPr>
          <a:xfrm>
            <a:off x="6800850" y="3371850"/>
            <a:ext cx="114300" cy="1143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090029" y="3251835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黎明露台 “算日子”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90791" y="3458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独坐沉思不说明，化妆后才现身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90791" y="3649028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显示对时间节点的精密掌控</a:t>
            </a:r>
          </a:p>
        </p:txBody>
      </p:sp>
      <p:sp>
        <p:nvSpPr>
          <p:cNvPr id="31" name="Ellipse 31"/>
          <p:cNvSpPr/>
          <p:nvPr/>
        </p:nvSpPr>
        <p:spPr>
          <a:xfrm>
            <a:off x="6800850" y="4324350"/>
            <a:ext cx="114300" cy="1143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090029" y="4204335"/>
            <a:ext cx="1945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追问 “为什么对我这么好”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90791" y="4411028"/>
            <a:ext cx="2003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得到“喜欢你”后追问历史一致性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90791" y="4601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笑容中隐含验证意味</a:t>
            </a:r>
          </a:p>
        </p:txBody>
      </p:sp>
      <p:sp>
        <p:nvSpPr>
          <p:cNvPr id="35" name="Ellipse 35"/>
          <p:cNvSpPr/>
          <p:nvPr/>
        </p:nvSpPr>
        <p:spPr>
          <a:xfrm>
            <a:off x="6800850" y="5276850"/>
            <a:ext cx="114300" cy="1143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090029" y="5156835"/>
            <a:ext cx="11771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G700 紧急离港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90791" y="5363528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时间紧迫下飞往蒙太奇海滩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090791" y="55540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不确定性触发防御与转移决策</a:t>
            </a:r>
          </a:p>
        </p:txBody>
      </p:sp>
      <p:sp>
        <p:nvSpPr>
          <p:cNvPr id="39" name="Ellipse 39"/>
          <p:cNvSpPr/>
          <p:nvPr/>
        </p:nvSpPr>
        <p:spPr>
          <a:xfrm>
            <a:off x="10915650" y="2009775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11058525" y="2009775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11201400" y="2009775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762000" y="6477000"/>
            <a:ext cx="10668000" cy="19050"/>
          </a:xfrm>
          <a:prstGeom prst="rect">
            <a:avLst/>
          </a:prstGeom>
          <a:solidFill>
            <a:srgbClr val="D9EAD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56666" y="6601778"/>
            <a:ext cx="38266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P13 | 行为分析篇：从物理空间筛选到心理安全验证的闭环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95909" y="356235"/>
            <a:ext cx="540866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谈判破裂：11秒沉默与心跳监测</a:t>
            </a:r>
          </a:p>
        </p:txBody>
      </p:sp>
      <p:sp>
        <p:nvSpPr>
          <p:cNvPr id="4" name="Rectangle 4"/>
          <p:cNvSpPr/>
          <p:nvPr/>
        </p:nvSpPr>
        <p:spPr>
          <a:xfrm>
            <a:off x="809625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02767" y="949642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拒绝时刻的身体反应确认情感联结已断裂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428750"/>
            <a:ext cx="5334000" cy="2286000"/>
            <a:chOff x="571500" y="1428750"/>
            <a:chExt cx="5334000" cy="22860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3340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9630" y="16478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通话现场还原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57250" y="195262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9EAD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392" y="2140268"/>
              <a:ext cx="2919794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24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诉求：索要 5000万美元现金</a:t>
              </a:r>
            </a:p>
            <a:p>
              <a:pPr algn="l" marL="145732" indent="-145732">
                <a:lnSpc>
                  <a:spcPts val="24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回应：“让我想想”（首次延迟满足）</a:t>
              </a:r>
            </a:p>
            <a:p>
              <a:pPr algn="l" marL="145732" indent="-145732">
                <a:lnSpc>
                  <a:spcPts val="24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环境：海浪声 vs 维港寂静</a:t>
              </a:r>
            </a:p>
            <a:p>
              <a:pPr algn="l" marL="145732" indent="-145732">
                <a:lnSpc>
                  <a:spcPts val="24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结局：“行”“我知道了”后挂断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57250" y="3333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57250" y="3333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84017" y="3125152"/>
              <a:ext cx="1108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11秒 情感真空期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3905250"/>
            <a:ext cx="5334000" cy="2295906"/>
            <a:chOff x="571500" y="3905250"/>
            <a:chExt cx="5334000" cy="2295906"/>
          </a:xfrm>
        </p:grpSpPr>
        <p:sp>
          <p:nvSpPr>
            <p:cNvPr id="14" name="Rectangle 14"/>
            <p:cNvSpPr/>
            <p:nvPr/>
          </p:nvSpPr>
          <p:spPr>
            <a:xfrm>
              <a:off x="571500" y="3905250"/>
              <a:ext cx="53340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9630" y="4124325"/>
              <a:ext cx="26291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AI 理性裁决 (Claude Code)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57250" y="442912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9EAD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57250" y="4667250"/>
              <a:ext cx="4762500" cy="1238250"/>
            </a:xfrm>
            <a:prstGeom prst="roundRect">
              <a:avLst>
                <a:gd name="adj" fmla="val 7692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0892" y="4854892"/>
              <a:ext cx="1728216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350" b="1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Analysis Result:</a:t>
              </a: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建议：不要给</a:t>
              </a:r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状态：一点犹豫都没有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1154" y="5966460"/>
              <a:ext cx="245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非人的果断带来“更高的一种东西”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1428750"/>
            <a:ext cx="5334000" cy="4762500"/>
            <a:chOff x="6286500" y="1428750"/>
            <a:chExt cx="5334000" cy="4762500"/>
          </a:xfrm>
        </p:grpSpPr>
        <p:sp>
          <p:nvSpPr>
            <p:cNvPr id="21" name="Rectangle 21"/>
            <p:cNvSpPr/>
            <p:nvPr/>
          </p:nvSpPr>
          <p:spPr>
            <a:xfrm>
              <a:off x="6286500" y="1428750"/>
              <a:ext cx="5334000" cy="4762500"/>
            </a:xfrm>
            <a:prstGeom prst="roundRect">
              <a:avLst>
                <a:gd name="adj" fmla="val 28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4630" y="1647825"/>
              <a:ext cx="27609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生理稳态监测：心跳 60次/分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6916" y="193452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恐惧、不舍、愤怒均未出现，只有稳态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762750" y="2571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9EADF"/>
              </a:solidFill>
              <a:prstDash val="dash"/>
            </a:ln>
          </p:spPr>
        </p:sp>
        <p:sp>
          <p:nvSpPr>
            <p:cNvPr id="25" name="Line 25"/>
            <p:cNvSpPr/>
            <p:nvPr/>
          </p:nvSpPr>
          <p:spPr>
            <a:xfrm>
              <a:off x="6762750" y="3333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9EADF"/>
              </a:solidFill>
              <a:prstDash val="dash"/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4095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9EADF"/>
              </a:solidFill>
              <a:prstDash val="dash"/>
            </a:ln>
          </p:spPr>
        </p:sp>
        <p:sp>
          <p:nvSpPr>
            <p:cNvPr id="27" name="Line 27"/>
            <p:cNvSpPr/>
            <p:nvPr/>
          </p:nvSpPr>
          <p:spPr>
            <a:xfrm>
              <a:off x="6762750" y="4857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9EADF"/>
              </a:solidFill>
              <a:prstDash val="dash"/>
            </a:ln>
          </p:spPr>
        </p:sp>
        <p:sp>
          <p:nvSpPr>
            <p:cNvPr id="28" name="Polyline 28"/>
            <p:cNvSpPr/>
            <p:nvPr/>
          </p:nvSpPr>
          <p:spPr>
            <a:xfrm>
              <a:off x="6762750" y="3714750"/>
              <a:ext cx="4572000" cy="571500"/>
            </a:xfrm>
            <a:custGeom>
              <a:avLst/>
              <a:gdLst/>
              <a:ahLst/>
              <a:cxnLst/>
              <a:rect l="l" t="t" r="r" b="b"/>
              <a:pathLst>
                <a:path w="4572000" h="571500">
                  <a:moveTo>
                    <a:pt x="0" y="381000"/>
                  </a:moveTo>
                  <a:lnTo>
                    <a:pt x="476250" y="381000"/>
                  </a:lnTo>
                  <a:lnTo>
                    <a:pt x="666750" y="381000"/>
                  </a:lnTo>
                  <a:lnTo>
                    <a:pt x="762000" y="190500"/>
                  </a:lnTo>
                  <a:lnTo>
                    <a:pt x="857250" y="571500"/>
                  </a:lnTo>
                  <a:lnTo>
                    <a:pt x="952500" y="0"/>
                  </a:lnTo>
                  <a:lnTo>
                    <a:pt x="1047750" y="476250"/>
                  </a:lnTo>
                  <a:lnTo>
                    <a:pt x="1143000" y="381000"/>
                  </a:lnTo>
                  <a:lnTo>
                    <a:pt x="1619250" y="381000"/>
                  </a:lnTo>
                  <a:lnTo>
                    <a:pt x="2095500" y="381000"/>
                  </a:lnTo>
                  <a:lnTo>
                    <a:pt x="2286000" y="381000"/>
                  </a:lnTo>
                  <a:lnTo>
                    <a:pt x="2381250" y="190500"/>
                  </a:lnTo>
                  <a:lnTo>
                    <a:pt x="2476500" y="571500"/>
                  </a:lnTo>
                  <a:lnTo>
                    <a:pt x="2571750" y="0"/>
                  </a:lnTo>
                  <a:lnTo>
                    <a:pt x="2667000" y="476250"/>
                  </a:lnTo>
                  <a:lnTo>
                    <a:pt x="2762250" y="381000"/>
                  </a:lnTo>
                  <a:lnTo>
                    <a:pt x="3238500" y="381000"/>
                  </a:lnTo>
                  <a:lnTo>
                    <a:pt x="3714750" y="381000"/>
                  </a:lnTo>
                  <a:lnTo>
                    <a:pt x="3905250" y="381000"/>
                  </a:lnTo>
                  <a:lnTo>
                    <a:pt x="4000500" y="190500"/>
                  </a:lnTo>
                  <a:lnTo>
                    <a:pt x="4095750" y="571500"/>
                  </a:lnTo>
                  <a:lnTo>
                    <a:pt x="4191000" y="0"/>
                  </a:lnTo>
                  <a:lnTo>
                    <a:pt x="4286250" y="476250"/>
                  </a:lnTo>
                  <a:lnTo>
                    <a:pt x="4381500" y="381000"/>
                  </a:lnTo>
                  <a:lnTo>
                    <a:pt x="4572000" y="381000"/>
                  </a:lnTo>
                </a:path>
              </a:pathLst>
            </a:custGeom>
            <a:noFill/>
            <a:ln w="28575">
              <a:solidFill>
                <a:srgbClr val="2E8B57"/>
              </a:solidFill>
              <a:round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0" y="2381250"/>
              <a:ext cx="571500" cy="2857500"/>
            </a:xfrm>
            <a:prstGeom prst="rect">
              <a:avLst/>
            </a:prstGeom>
            <a:solidFill>
              <a:srgbClr val="8FCDA9">
                <a:alpha val="2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28750" y="21888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通话中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048750" y="2381250"/>
              <a:ext cx="571500" cy="2857500"/>
            </a:xfrm>
            <a:prstGeom prst="rect">
              <a:avLst/>
            </a:prstGeom>
            <a:solidFill>
              <a:srgbClr val="8FCDA9">
                <a:alpha val="2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48000" y="21888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自测时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77150" y="4057650"/>
              <a:ext cx="76200" cy="76200"/>
            </a:xfrm>
            <a:prstGeom prst="ellipse">
              <a:avLst/>
            </a:prstGeom>
            <a:solidFill>
              <a:srgbClr val="1F5C3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68736" y="4458652"/>
              <a:ext cx="493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C3D"/>
                  </a:solidFill>
                  <a:latin typeface="Noto Sans CJK SC"/>
                  <a:ea typeface="Noto Sans CJK SC"/>
                  <a:cs typeface="Noto Sans CJK SC"/>
                </a:rPr>
                <a:t>62 bpm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296400" y="4057650"/>
              <a:ext cx="76200" cy="76200"/>
            </a:xfrm>
            <a:prstGeom prst="ellipse">
              <a:avLst/>
            </a:prstGeom>
            <a:solidFill>
              <a:srgbClr val="1F5C3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87986" y="4458652"/>
              <a:ext cx="493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C3D"/>
                  </a:solidFill>
                  <a:latin typeface="Noto Sans CJK SC"/>
                  <a:ea typeface="Noto Sans CJK SC"/>
                  <a:cs typeface="Noto Sans CJK SC"/>
                </a:rPr>
                <a:t>60 bpm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72250" y="5143500"/>
              <a:ext cx="4762500" cy="762000"/>
            </a:xfrm>
            <a:prstGeom prst="roundRect">
              <a:avLst>
                <a:gd name="adj" fmla="val 1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92523" y="5331142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结论：像医生检查他人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78140" y="56330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痛苦的是发现自己不再痛苦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66166" y="6363652"/>
            <a:ext cx="42724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记忆选择性遗忘：记住海声与回声，丢失她的声音 = 情感剥离完成式</a:t>
            </a:r>
          </a:p>
        </p:txBody>
      </p:sp>
      <p:sp>
        <p:nvSpPr>
          <p:cNvPr id="42" name="Line 42"/>
          <p:cNvSpPr/>
          <p:nvPr/>
        </p:nvSpPr>
        <p:spPr>
          <a:xfrm>
            <a:off x="571500" y="6572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8FCDA9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640454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AI裁决：Claude Code作为关系断路器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04775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438049" y="1190625"/>
            <a:ext cx="53159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核心洞察：算法的非人属性提供了人类无法给出的确定性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1809750"/>
            <a:ext cx="5524500" cy="4381500"/>
            <a:chOff x="571500" y="1809750"/>
            <a:chExt cx="5524500" cy="4381500"/>
          </a:xfrm>
        </p:grpSpPr>
        <p:sp>
          <p:nvSpPr>
            <p:cNvPr id="7" name="Rectangle 7"/>
            <p:cNvSpPr/>
            <p:nvPr/>
          </p:nvSpPr>
          <p:spPr>
            <a:xfrm>
              <a:off x="571500" y="1809750"/>
              <a:ext cx="5524500" cy="4381500"/>
            </a:xfrm>
            <a:prstGeom prst="roundRect">
              <a:avLst>
                <a:gd name="adj" fmla="val 2174"/>
              </a:avLst>
            </a:prstGeom>
            <a:solidFill>
              <a:srgbClr val="1F5C3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809750"/>
              <a:ext cx="5524500" cy="285750"/>
            </a:xfrm>
            <a:prstGeom prst="roundRect">
              <a:avLst>
                <a:gd name="adj" fmla="val 33333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14375" y="1905000"/>
              <a:ext cx="95250" cy="9525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04875" y="1905000"/>
              <a:ext cx="95250" cy="9525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95375" y="1905000"/>
              <a:ext cx="95250" cy="9525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90102" y="1903095"/>
              <a:ext cx="22872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4F9F4"/>
                  </a:solidFill>
                  <a:latin typeface="Noto Sans CJK SC"/>
                  <a:ea typeface="Noto Sans CJK SC"/>
                  <a:cs typeface="Noto Sans CJK SC"/>
                </a:rPr>
                <a:t>claude_code_terminal — api_session_v4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6750" y="2190750"/>
              <a:ext cx="5334000" cy="3905250"/>
            </a:xfrm>
            <a:prstGeom prst="roundRect">
              <a:avLst>
                <a:gd name="adj" fmla="val 976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1916" y="2363152"/>
              <a:ext cx="2569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E837A"/>
                  </a:solidFill>
                  <a:latin typeface="Noto Sans CJK SC"/>
                  <a:ea typeface="Noto Sans CJK SC"/>
                  <a:cs typeface="Noto Sans CJK SC"/>
                </a:rPr>
                <a:t>&gt; initializing asset_scan_protocol...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916" y="2601278"/>
              <a:ext cx="3065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E8B57"/>
                  </a:solidFill>
                  <a:latin typeface="Noto Sans CJK SC"/>
                  <a:ea typeface="Noto Sans CJK SC"/>
                  <a:cs typeface="Noto Sans CJK SC"/>
                </a:rPr>
                <a:t>&gt; connecting to global_banking_api [SECURE]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1916" y="2839402"/>
              <a:ext cx="2455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E837A"/>
                  </a:solidFill>
                  <a:latin typeface="Noto Sans CJK SC"/>
                  <a:ea typeface="Noto Sans CJK SC"/>
                  <a:cs typeface="Noto Sans CJK SC"/>
                </a:rPr>
                <a:t>&gt; traversing liquid_assets... DONE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916" y="3077528"/>
              <a:ext cx="2879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E837A"/>
                  </a:solidFill>
                  <a:latin typeface="Noto Sans CJK SC"/>
                  <a:ea typeface="Noto Sans CJK SC"/>
                  <a:cs typeface="Noto Sans CJK SC"/>
                </a:rPr>
                <a:t>&gt; solvency_check(50,000,000 USD): PASS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429000"/>
              <a:ext cx="5143500" cy="3429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8FCDA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1154" y="3528060"/>
              <a:ext cx="2189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USER: "她不再爱我了吗？"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952875"/>
              <a:ext cx="5143500" cy="857250"/>
            </a:xfrm>
            <a:prstGeom prst="roundRect">
              <a:avLst>
                <a:gd name="adj" fmla="val 6667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5642" y="4092892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CLAUDE: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4394835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9F4"/>
                  </a:solidFill>
                  <a:latin typeface="Noto Sans CJK SC"/>
                  <a:ea typeface="Microsoft YaHei"/>
                  <a:cs typeface="Noto Sans CJK SC"/>
                </a:rPr>
                <a:t>"对于爱情我不关心也不理解，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585335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9F4"/>
                  </a:solidFill>
                  <a:latin typeface="Noto Sans CJK SC"/>
                  <a:ea typeface="Microsoft YaHei"/>
                  <a:cs typeface="Noto Sans CJK SC"/>
                </a:rPr>
                <a:t>但是你不能把这五千万美元给她。"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2488" y="5046345"/>
              <a:ext cx="29610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FCDA9"/>
                  </a:solidFill>
                  <a:latin typeface="Noto Sans CJK SC"/>
                  <a:ea typeface="Noto Sans CJK SC"/>
                  <a:cs typeface="Noto Sans CJK SC"/>
                </a:rPr>
                <a:t>&gt; response_latency: 12ms | emotion_weight: NULL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57250" y="5334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9EAD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2488" y="5474970"/>
              <a:ext cx="25659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E837A"/>
                  </a:solidFill>
                  <a:latin typeface="Noto Sans CJK SC"/>
                  <a:ea typeface="Noto Sans CJK SC"/>
                  <a:cs typeface="Noto Sans CJK SC"/>
                </a:rPr>
                <a:t>&gt; decision_finalized. no_apology_attached.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477000" y="1809750"/>
            <a:ext cx="5143500" cy="4381500"/>
            <a:chOff x="6477000" y="1809750"/>
            <a:chExt cx="5143500" cy="4381500"/>
          </a:xfrm>
        </p:grpSpPr>
        <p:sp>
          <p:nvSpPr>
            <p:cNvPr id="28" name="Rectangle 28"/>
            <p:cNvSpPr/>
            <p:nvPr/>
          </p:nvSpPr>
          <p:spPr>
            <a:xfrm>
              <a:off x="6477000" y="1809750"/>
              <a:ext cx="51435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648450" y="2076450"/>
              <a:ext cx="228600" cy="2286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6601" y="2125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C3D"/>
                  </a:solidFill>
                  <a:latin typeface="Noto Sans CJK SC"/>
                  <a:ea typeface="Noto Sans CJK SC"/>
                  <a:cs typeface="Noto Sans CJK SC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41642" y="1997392"/>
              <a:ext cx="1908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API遍历确认偿付能力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43166" y="2267902"/>
              <a:ext cx="3007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读取所有现金资产，支付5000万不影响财务安全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0" y="2714625"/>
              <a:ext cx="51435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6648450" y="2981325"/>
              <a:ext cx="228600" cy="2286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6601" y="3029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C3D"/>
                  </a:solidFill>
                  <a:latin typeface="Noto Sans CJK SC"/>
                  <a:ea typeface="Noto Sans CJK SC"/>
                  <a:cs typeface="Noto Sans CJK SC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1642" y="2902268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AI声明不理解爱情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3166" y="317277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剥离情感维度，仅从逻辑最优解输出判断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77000" y="3619500"/>
              <a:ext cx="51435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648450" y="3886200"/>
              <a:ext cx="228600" cy="2286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6601" y="3934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C3D"/>
                  </a:solidFill>
                  <a:latin typeface="Noto Sans CJK SC"/>
                  <a:ea typeface="Noto Sans CJK SC"/>
                  <a:cs typeface="Noto Sans CJK SC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41642" y="3807142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无犹豫语气的权威性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3166" y="40776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超越人性软弱与妥协，不带任何情感负债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77000" y="4524375"/>
              <a:ext cx="51435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648450" y="4791075"/>
              <a:ext cx="228600" cy="2286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6601" y="48396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C3D"/>
                  </a:solidFill>
                  <a:latin typeface="Noto Sans CJK SC"/>
                  <a:ea typeface="Noto Sans CJK SC"/>
                  <a:cs typeface="Noto Sans CJK SC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1642" y="47120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机器代行超我功能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43166" y="49825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将长期压抑的理性从情感绑架中彻底解放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5429250"/>
              <a:ext cx="51435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648450" y="5695950"/>
              <a:ext cx="228600" cy="2286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16601" y="5744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C3D"/>
                  </a:solidFill>
                  <a:latin typeface="Noto Sans CJK SC"/>
                  <a:ea typeface="Noto Sans CJK SC"/>
                  <a:cs typeface="Noto Sans CJK SC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41642" y="561689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冷漠作为情感解放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43166" y="58874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十九年未拒并非慷慨，机器的冷漠恰是最大慈悲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3783211" y="6458902"/>
            <a:ext cx="46255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Page 15 · AI裁决机制解析 · 叙事者寻求的不是偿付能力评估，而是许可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95909" y="356235"/>
            <a:ext cx="5370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剩余资产：未拆针剂与换窗赔偿</a:t>
            </a:r>
          </a:p>
        </p:txBody>
      </p:sp>
      <p:sp>
        <p:nvSpPr>
          <p:cNvPr id="4" name="Rectangle 4"/>
          <p:cNvSpPr/>
          <p:nvPr/>
        </p:nvSpPr>
        <p:spPr>
          <a:xfrm>
            <a:off x="809625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02767" y="949642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关系终结后遗留物成为成本核算的最终项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71500" y="1428750"/>
            <a:ext cx="5524500" cy="4762500"/>
            <a:chOff x="571500" y="1428750"/>
            <a:chExt cx="5524500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524500" cy="4762500"/>
            </a:xfrm>
            <a:prstGeom prst="roundRect">
              <a:avLst>
                <a:gd name="adj" fmla="val 28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356" y="17106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沉没成本清算清单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0955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9EADF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52500" y="2381250"/>
              <a:ext cx="4905375" cy="561975"/>
              <a:chOff x="952500" y="2381250"/>
              <a:chExt cx="4905375" cy="56197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2381250"/>
                <a:ext cx="381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66800" y="2495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152400"/>
                    </a:lnTo>
                    <a:moveTo>
                      <a:pt x="152400" y="0"/>
                    </a:moveTo>
                    <a:lnTo>
                      <a:pt x="0" y="15240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2E8B57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469517" y="2406968"/>
                <a:ext cx="19219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特纳里费酒店换窗赔偿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71041" y="2667952"/>
                <a:ext cx="28376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837A"/>
                    </a:solidFill>
                    <a:latin typeface="Noto Sans CJK SC"/>
                    <a:ea typeface="Microsoft YaHei"/>
                    <a:cs typeface="Noto Sans CJK SC"/>
                  </a:rPr>
                  <a:t>胶带痕迹无法清除，需整块更换朝大西洋玻璃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1476375" y="2905125"/>
                <a:ext cx="4381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F4F9F4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476375" y="2905125"/>
                <a:ext cx="3619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E8B57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952500" y="3238500"/>
              <a:ext cx="4905375" cy="561975"/>
              <a:chOff x="952500" y="3238500"/>
              <a:chExt cx="4905375" cy="56197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952500" y="3238500"/>
                <a:ext cx="381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85850" y="3333750"/>
                <a:ext cx="1143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90500">
                    <a:moveTo>
                      <a:pt x="57150" y="0"/>
                    </a:moveTo>
                    <a:lnTo>
                      <a:pt x="57150" y="190500"/>
                    </a:lnTo>
                    <a:moveTo>
                      <a:pt x="0" y="133350"/>
                    </a:moveTo>
                    <a:lnTo>
                      <a:pt x="57150" y="190500"/>
                    </a:lnTo>
                    <a:lnTo>
                      <a:pt x="114300" y="133350"/>
                    </a:lnTo>
                  </a:path>
                </a:pathLst>
              </a:custGeom>
              <a:noFill/>
              <a:ln w="19050" cap="rnd">
                <a:solidFill>
                  <a:srgbClr val="2E8B57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469517" y="3264218"/>
                <a:ext cx="17275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A330 燃油排放浪费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71041" y="3525202"/>
                <a:ext cx="28023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837A"/>
                    </a:solidFill>
                    <a:latin typeface="Noto Sans CJK SC"/>
                    <a:ea typeface="Microsoft YaHei"/>
                    <a:cs typeface="Noto Sans CJK SC"/>
                  </a:rPr>
                  <a:t>200座设计仅载30人，起飞配重导致落地排油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1476375" y="3762375"/>
                <a:ext cx="4381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F4F9F4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476375" y="3762375"/>
                <a:ext cx="4000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E8B57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952500" y="4095750"/>
              <a:ext cx="4905375" cy="561975"/>
              <a:chOff x="952500" y="4095750"/>
              <a:chExt cx="4905375" cy="5619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952500" y="4095750"/>
                <a:ext cx="381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1085850" y="4191000"/>
                <a:ext cx="114300" cy="19050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2E8B57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469517" y="4121468"/>
                <a:ext cx="15403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洛杉矶诊所冷藏箱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71041" y="4382452"/>
                <a:ext cx="20673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837A"/>
                    </a:solidFill>
                    <a:latin typeface="Noto Sans CJK SC"/>
                    <a:ea typeface="Microsoft YaHei"/>
                    <a:cs typeface="Noto Sans CJK SC"/>
                  </a:rPr>
                  <a:t>8天促排针剂一支未拆，原封寄回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1476375" y="4619625"/>
                <a:ext cx="4381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F4F9F4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476375" y="4619625"/>
                <a:ext cx="2667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8FCDA9"/>
              </a:solidFill>
              <a:ln>
                <a:noFill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952500" y="4953000"/>
              <a:ext cx="4905375" cy="561975"/>
              <a:chOff x="952500" y="4953000"/>
              <a:chExt cx="4905375" cy="56197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952500" y="4953000"/>
                <a:ext cx="381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066800" y="50673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rgbClr val="2E8B57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469517" y="4978718"/>
                <a:ext cx="15403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代孕机构定金损失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471041" y="5239702"/>
                <a:ext cx="24277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837A"/>
                    </a:solidFill>
                    <a:latin typeface="Noto Sans CJK SC"/>
                    <a:ea typeface="Microsoft YaHei"/>
                    <a:cs typeface="Noto Sans CJK SC"/>
                  </a:rPr>
                  <a:t>20万美元定金不退，档案照片从未看过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476375" y="5476875"/>
                <a:ext cx="4381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F4F9F4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1476375" y="5476875"/>
                <a:ext cx="4381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F5C3D"/>
              </a:solidFill>
              <a:ln>
                <a:noFill/>
              </a:ln>
            </p:spPr>
          </p:sp>
        </p:grpSp>
      </p:grpSp>
      <p:grpSp>
        <p:nvGrpSpPr>
          <p:cNvPr id="60" name="Group 60"/>
          <p:cNvGrpSpPr/>
          <p:nvPr/>
        </p:nvGrpSpPr>
        <p:grpSpPr>
          <a:xfrm>
            <a:off x="6477000" y="1428750"/>
            <a:ext cx="5143500" cy="4762500"/>
            <a:chOff x="6477000" y="1428750"/>
            <a:chExt cx="5143500" cy="4762500"/>
          </a:xfrm>
        </p:grpSpPr>
        <p:sp>
          <p:nvSpPr>
            <p:cNvPr id="38" name="Rectangle 38"/>
            <p:cNvSpPr/>
            <p:nvPr/>
          </p:nvSpPr>
          <p:spPr>
            <a:xfrm>
              <a:off x="6477000" y="1428750"/>
              <a:ext cx="5143500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50380" y="1695450"/>
              <a:ext cx="2156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终止关系的“价签”构成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7029450" y="2172509"/>
              <a:ext cx="1562009" cy="1561290"/>
              <a:chOff x="7029450" y="2172509"/>
              <a:chExt cx="1562009" cy="1561290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7143750" y="2286000"/>
                <a:ext cx="1333500" cy="1333500"/>
              </a:xfrm>
              <a:prstGeom prst="ellipse">
                <a:avLst/>
              </a:prstGeom>
              <a:noFill/>
              <a:ln w="228600">
                <a:solidFill>
                  <a:srgbClr val="F4F9F4"/>
                </a:solidFill>
              </a:ln>
            </p:spPr>
          </p:sp>
          <p:sp>
            <p:nvSpPr>
              <p:cNvPr id="41" name="Arc 41"/>
              <p:cNvSpPr/>
              <p:nvPr/>
            </p:nvSpPr>
            <p:spPr>
              <a:xfrm>
                <a:off x="7029450" y="2172509"/>
                <a:ext cx="1524147" cy="780241"/>
              </a:xfrm>
              <a:custGeom>
                <a:avLst/>
                <a:gdLst/>
                <a:ahLst/>
                <a:cxnLst/>
                <a:rect l="l" t="t" r="r" b="b"/>
                <a:pathLst>
                  <a:path w="1524147" h="780241">
                    <a:moveTo>
                      <a:pt x="0" y="780241"/>
                    </a:moveTo>
                    <a:lnTo>
                      <a:pt x="3982" y="701473"/>
                    </a:lnTo>
                    <a:lnTo>
                      <a:pt x="15887" y="623508"/>
                    </a:lnTo>
                    <a:lnTo>
                      <a:pt x="35595" y="547141"/>
                    </a:lnTo>
                    <a:lnTo>
                      <a:pt x="62903" y="473152"/>
                    </a:lnTo>
                    <a:lnTo>
                      <a:pt x="97534" y="402293"/>
                    </a:lnTo>
                    <a:lnTo>
                      <a:pt x="139134" y="335288"/>
                    </a:lnTo>
                    <a:lnTo>
                      <a:pt x="187279" y="272820"/>
                    </a:lnTo>
                    <a:lnTo>
                      <a:pt x="241479" y="215526"/>
                    </a:lnTo>
                    <a:lnTo>
                      <a:pt x="301181" y="163990"/>
                    </a:lnTo>
                    <a:lnTo>
                      <a:pt x="365775" y="118738"/>
                    </a:lnTo>
                    <a:lnTo>
                      <a:pt x="434604" y="80230"/>
                    </a:lnTo>
                    <a:lnTo>
                      <a:pt x="506965" y="48861"/>
                    </a:lnTo>
                    <a:lnTo>
                      <a:pt x="582121" y="24948"/>
                    </a:lnTo>
                    <a:lnTo>
                      <a:pt x="659306" y="8737"/>
                    </a:lnTo>
                    <a:lnTo>
                      <a:pt x="737732" y="393"/>
                    </a:lnTo>
                    <a:lnTo>
                      <a:pt x="816599" y="0"/>
                    </a:lnTo>
                    <a:lnTo>
                      <a:pt x="895104" y="7563"/>
                    </a:lnTo>
                    <a:lnTo>
                      <a:pt x="972446" y="23004"/>
                    </a:lnTo>
                    <a:lnTo>
                      <a:pt x="1047837" y="46167"/>
                    </a:lnTo>
                    <a:lnTo>
                      <a:pt x="1120507" y="76815"/>
                    </a:lnTo>
                    <a:lnTo>
                      <a:pt x="1189716" y="114635"/>
                    </a:lnTo>
                    <a:lnTo>
                      <a:pt x="1254758" y="159241"/>
                    </a:lnTo>
                    <a:lnTo>
                      <a:pt x="1314970" y="210180"/>
                    </a:lnTo>
                    <a:lnTo>
                      <a:pt x="1369737" y="266932"/>
                    </a:lnTo>
                    <a:lnTo>
                      <a:pt x="1418503" y="328917"/>
                    </a:lnTo>
                    <a:lnTo>
                      <a:pt x="1460768" y="395504"/>
                    </a:lnTo>
                    <a:lnTo>
                      <a:pt x="1496103" y="466014"/>
                    </a:lnTo>
                    <a:lnTo>
                      <a:pt x="1524147" y="539728"/>
                    </a:lnTo>
                    <a:lnTo>
                      <a:pt x="1306655" y="610122"/>
                    </a:lnTo>
                    <a:lnTo>
                      <a:pt x="1286819" y="557983"/>
                    </a:lnTo>
                    <a:lnTo>
                      <a:pt x="1261826" y="508110"/>
                    </a:lnTo>
                    <a:lnTo>
                      <a:pt x="1231931" y="461012"/>
                    </a:lnTo>
                    <a:lnTo>
                      <a:pt x="1197439" y="417168"/>
                    </a:lnTo>
                    <a:lnTo>
                      <a:pt x="1158700" y="377027"/>
                    </a:lnTo>
                    <a:lnTo>
                      <a:pt x="1116112" y="340997"/>
                    </a:lnTo>
                    <a:lnTo>
                      <a:pt x="1070106" y="309446"/>
                    </a:lnTo>
                    <a:lnTo>
                      <a:pt x="1021154" y="282695"/>
                    </a:lnTo>
                    <a:lnTo>
                      <a:pt x="969753" y="261018"/>
                    </a:lnTo>
                    <a:lnTo>
                      <a:pt x="916428" y="244635"/>
                    </a:lnTo>
                    <a:lnTo>
                      <a:pt x="861722" y="233712"/>
                    </a:lnTo>
                    <a:lnTo>
                      <a:pt x="806194" y="228363"/>
                    </a:lnTo>
                    <a:lnTo>
                      <a:pt x="750410" y="228641"/>
                    </a:lnTo>
                    <a:lnTo>
                      <a:pt x="694938" y="234543"/>
                    </a:lnTo>
                    <a:lnTo>
                      <a:pt x="640344" y="246009"/>
                    </a:lnTo>
                    <a:lnTo>
                      <a:pt x="587185" y="262923"/>
                    </a:lnTo>
                    <a:lnTo>
                      <a:pt x="536003" y="285111"/>
                    </a:lnTo>
                    <a:lnTo>
                      <a:pt x="487319" y="312348"/>
                    </a:lnTo>
                    <a:lnTo>
                      <a:pt x="441630" y="344356"/>
                    </a:lnTo>
                    <a:lnTo>
                      <a:pt x="399402" y="380808"/>
                    </a:lnTo>
                    <a:lnTo>
                      <a:pt x="361066" y="421334"/>
                    </a:lnTo>
                    <a:lnTo>
                      <a:pt x="327012" y="465518"/>
                    </a:lnTo>
                    <a:lnTo>
                      <a:pt x="297587" y="512912"/>
                    </a:lnTo>
                    <a:lnTo>
                      <a:pt x="273092" y="563031"/>
                    </a:lnTo>
                    <a:lnTo>
                      <a:pt x="253777" y="615366"/>
                    </a:lnTo>
                    <a:lnTo>
                      <a:pt x="239837" y="669381"/>
                    </a:lnTo>
                    <a:lnTo>
                      <a:pt x="231417" y="724527"/>
                    </a:lnTo>
                    <a:lnTo>
                      <a:pt x="228600" y="780241"/>
                    </a:lnTo>
                    <a:close/>
                  </a:path>
                </a:pathLst>
              </a:custGeom>
              <a:solidFill>
                <a:srgbClr val="1F5C3D"/>
              </a:solidFill>
              <a:ln>
                <a:noFill/>
              </a:ln>
            </p:spPr>
          </p:sp>
          <p:sp>
            <p:nvSpPr>
              <p:cNvPr id="42" name="Arc 42"/>
              <p:cNvSpPr/>
              <p:nvPr/>
            </p:nvSpPr>
            <p:spPr>
              <a:xfrm>
                <a:off x="7809019" y="2712238"/>
                <a:ext cx="782440" cy="1021561"/>
              </a:xfrm>
              <a:custGeom>
                <a:avLst/>
                <a:gdLst/>
                <a:ahLst/>
                <a:cxnLst/>
                <a:rect l="l" t="t" r="r" b="b"/>
                <a:pathLst>
                  <a:path w="782440" h="1021561">
                    <a:moveTo>
                      <a:pt x="744578" y="0"/>
                    </a:moveTo>
                    <a:lnTo>
                      <a:pt x="764753" y="74814"/>
                    </a:lnTo>
                    <a:lnTo>
                      <a:pt x="777415" y="151258"/>
                    </a:lnTo>
                    <a:lnTo>
                      <a:pt x="782440" y="228581"/>
                    </a:lnTo>
                    <a:lnTo>
                      <a:pt x="779779" y="306021"/>
                    </a:lnTo>
                    <a:lnTo>
                      <a:pt x="769458" y="382816"/>
                    </a:lnTo>
                    <a:lnTo>
                      <a:pt x="751579" y="458211"/>
                    </a:lnTo>
                    <a:lnTo>
                      <a:pt x="726317" y="531464"/>
                    </a:lnTo>
                    <a:lnTo>
                      <a:pt x="693921" y="601852"/>
                    </a:lnTo>
                    <a:lnTo>
                      <a:pt x="654710" y="668685"/>
                    </a:lnTo>
                    <a:lnTo>
                      <a:pt x="609070" y="731303"/>
                    </a:lnTo>
                    <a:lnTo>
                      <a:pt x="557450" y="789091"/>
                    </a:lnTo>
                    <a:lnTo>
                      <a:pt x="500358" y="841479"/>
                    </a:lnTo>
                    <a:lnTo>
                      <a:pt x="438356" y="887953"/>
                    </a:lnTo>
                    <a:lnTo>
                      <a:pt x="372054" y="928055"/>
                    </a:lnTo>
                    <a:lnTo>
                      <a:pt x="302105" y="961390"/>
                    </a:lnTo>
                    <a:lnTo>
                      <a:pt x="229197" y="987630"/>
                    </a:lnTo>
                    <a:lnTo>
                      <a:pt x="154048" y="1006516"/>
                    </a:lnTo>
                    <a:lnTo>
                      <a:pt x="77398" y="1017864"/>
                    </a:lnTo>
                    <a:lnTo>
                      <a:pt x="0" y="1021561"/>
                    </a:lnTo>
                    <a:lnTo>
                      <a:pt x="434" y="792961"/>
                    </a:lnTo>
                    <a:lnTo>
                      <a:pt x="55178" y="790346"/>
                    </a:lnTo>
                    <a:lnTo>
                      <a:pt x="109395" y="782320"/>
                    </a:lnTo>
                    <a:lnTo>
                      <a:pt x="162549" y="768961"/>
                    </a:lnTo>
                    <a:lnTo>
                      <a:pt x="214118" y="750401"/>
                    </a:lnTo>
                    <a:lnTo>
                      <a:pt x="263594" y="726823"/>
                    </a:lnTo>
                    <a:lnTo>
                      <a:pt x="310490" y="698458"/>
                    </a:lnTo>
                    <a:lnTo>
                      <a:pt x="354345" y="665587"/>
                    </a:lnTo>
                    <a:lnTo>
                      <a:pt x="394727" y="628531"/>
                    </a:lnTo>
                    <a:lnTo>
                      <a:pt x="431239" y="587657"/>
                    </a:lnTo>
                    <a:lnTo>
                      <a:pt x="463521" y="543366"/>
                    </a:lnTo>
                    <a:lnTo>
                      <a:pt x="491256" y="496094"/>
                    </a:lnTo>
                    <a:lnTo>
                      <a:pt x="514170" y="446307"/>
                    </a:lnTo>
                    <a:lnTo>
                      <a:pt x="532038" y="394494"/>
                    </a:lnTo>
                    <a:lnTo>
                      <a:pt x="544685" y="341166"/>
                    </a:lnTo>
                    <a:lnTo>
                      <a:pt x="551985" y="286848"/>
                    </a:lnTo>
                    <a:lnTo>
                      <a:pt x="553867" y="232073"/>
                    </a:lnTo>
                    <a:lnTo>
                      <a:pt x="550312" y="177381"/>
                    </a:lnTo>
                    <a:lnTo>
                      <a:pt x="541356" y="123311"/>
                    </a:lnTo>
                    <a:lnTo>
                      <a:pt x="527087" y="70394"/>
                    </a:lnTo>
                    <a:close/>
                  </a:path>
                </a:pathLst>
              </a:cu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43" name="Arc 43"/>
              <p:cNvSpPr/>
              <p:nvPr/>
            </p:nvSpPr>
            <p:spPr>
              <a:xfrm>
                <a:off x="7177574" y="3276454"/>
                <a:ext cx="631878" cy="457345"/>
              </a:xfrm>
              <a:custGeom>
                <a:avLst/>
                <a:gdLst/>
                <a:ahLst/>
                <a:cxnLst/>
                <a:rect l="l" t="t" r="r" b="b"/>
                <a:pathLst>
                  <a:path w="631878" h="457345">
                    <a:moveTo>
                      <a:pt x="631445" y="457345"/>
                    </a:moveTo>
                    <a:lnTo>
                      <a:pt x="585448" y="455902"/>
                    </a:lnTo>
                    <a:lnTo>
                      <a:pt x="539616" y="451752"/>
                    </a:lnTo>
                    <a:lnTo>
                      <a:pt x="494108" y="444911"/>
                    </a:lnTo>
                    <a:lnTo>
                      <a:pt x="449081" y="435401"/>
                    </a:lnTo>
                    <a:lnTo>
                      <a:pt x="404693" y="423256"/>
                    </a:lnTo>
                    <a:lnTo>
                      <a:pt x="361098" y="408518"/>
                    </a:lnTo>
                    <a:lnTo>
                      <a:pt x="318446" y="391238"/>
                    </a:lnTo>
                    <a:lnTo>
                      <a:pt x="276886" y="371475"/>
                    </a:lnTo>
                    <a:lnTo>
                      <a:pt x="236561" y="349300"/>
                    </a:lnTo>
                    <a:lnTo>
                      <a:pt x="197613" y="324788"/>
                    </a:lnTo>
                    <a:lnTo>
                      <a:pt x="160176" y="298025"/>
                    </a:lnTo>
                    <a:lnTo>
                      <a:pt x="124380" y="269103"/>
                    </a:lnTo>
                    <a:lnTo>
                      <a:pt x="90350" y="238124"/>
                    </a:lnTo>
                    <a:lnTo>
                      <a:pt x="58203" y="205194"/>
                    </a:lnTo>
                    <a:lnTo>
                      <a:pt x="28052" y="170428"/>
                    </a:lnTo>
                    <a:lnTo>
                      <a:pt x="0" y="133946"/>
                    </a:lnTo>
                    <a:lnTo>
                      <a:pt x="185247" y="0"/>
                    </a:lnTo>
                    <a:lnTo>
                      <a:pt x="205088" y="25804"/>
                    </a:lnTo>
                    <a:lnTo>
                      <a:pt x="226415" y="50395"/>
                    </a:lnTo>
                    <a:lnTo>
                      <a:pt x="249153" y="73686"/>
                    </a:lnTo>
                    <a:lnTo>
                      <a:pt x="273223" y="95599"/>
                    </a:lnTo>
                    <a:lnTo>
                      <a:pt x="298542" y="116056"/>
                    </a:lnTo>
                    <a:lnTo>
                      <a:pt x="325022" y="134986"/>
                    </a:lnTo>
                    <a:lnTo>
                      <a:pt x="352570" y="152323"/>
                    </a:lnTo>
                    <a:lnTo>
                      <a:pt x="381093" y="168008"/>
                    </a:lnTo>
                    <a:lnTo>
                      <a:pt x="410489" y="181986"/>
                    </a:lnTo>
                    <a:lnTo>
                      <a:pt x="440657" y="194209"/>
                    </a:lnTo>
                    <a:lnTo>
                      <a:pt x="471493" y="204634"/>
                    </a:lnTo>
                    <a:lnTo>
                      <a:pt x="502890" y="213224"/>
                    </a:lnTo>
                    <a:lnTo>
                      <a:pt x="534737" y="219950"/>
                    </a:lnTo>
                    <a:lnTo>
                      <a:pt x="566926" y="224790"/>
                    </a:lnTo>
                    <a:lnTo>
                      <a:pt x="599344" y="227725"/>
                    </a:lnTo>
                    <a:lnTo>
                      <a:pt x="631878" y="228745"/>
                    </a:lnTo>
                    <a:close/>
                  </a:path>
                </a:pathLst>
              </a:custGeom>
              <a:solidFill>
                <a:srgbClr val="8FCDA9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522464" y="27917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837A"/>
                    </a:solidFill>
                    <a:latin typeface="Noto Sans CJK SC"/>
                    <a:ea typeface="Microsoft YaHei"/>
                    <a:cs typeface="Noto Sans CJK SC"/>
                  </a:rPr>
                  <a:t>沉没成本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496038" y="2948940"/>
                <a:ext cx="6289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1F5C3D"/>
                    </a:solidFill>
                    <a:latin typeface="Noto Sans CJK SC"/>
                    <a:ea typeface="Noto Sans CJK SC"/>
                    <a:cs typeface="Noto Sans CJK SC"/>
                  </a:rPr>
                  <a:t>100%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9144000" y="2372678"/>
              <a:ext cx="1524533" cy="1062609"/>
              <a:chOff x="9144000" y="2372678"/>
              <a:chExt cx="1524533" cy="1062609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144000" y="2381250"/>
                <a:ext cx="114300" cy="114300"/>
              </a:xfrm>
              <a:prstGeom prst="roundRect">
                <a:avLst>
                  <a:gd name="adj" fmla="val 16667"/>
                </a:avLst>
              </a:prstGeom>
              <a:solidFill>
                <a:srgbClr val="1F5C3D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329166" y="2372678"/>
                <a:ext cx="11980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代孕定金 (不可退)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9144000" y="2667000"/>
                <a:ext cx="114300" cy="114300"/>
              </a:xfrm>
              <a:prstGeom prst="roundRect">
                <a:avLst>
                  <a:gd name="adj" fmla="val 16667"/>
                </a:avLst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9329166" y="2658428"/>
                <a:ext cx="13393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航空燃油 (无效载重)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9144000" y="2952750"/>
                <a:ext cx="114300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FCDA9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329166" y="2944178"/>
                <a:ext cx="13393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酒店修复 (物理痕迹)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9144000" y="3238500"/>
                <a:ext cx="114300" cy="114300"/>
              </a:xfrm>
              <a:prstGeom prst="roundRect">
                <a:avLst>
                  <a:gd name="adj" fmla="val 16667"/>
                </a:avLst>
              </a:prstGeom>
              <a:solidFill>
                <a:srgbClr val="D9EADF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329166" y="3229928"/>
                <a:ext cx="10566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A33"/>
                    </a:solidFill>
                    <a:latin typeface="Noto Sans CJK SC"/>
                    <a:ea typeface="Microsoft YaHei"/>
                    <a:cs typeface="Noto Sans CJK SC"/>
                  </a:rPr>
                  <a:t>医疗物资 (闲置)</a:t>
                </a:r>
              </a:p>
            </p:txBody>
          </p:sp>
        </p:grpSp>
        <p:sp>
          <p:nvSpPr>
            <p:cNvPr id="56" name="Rectangle 56"/>
            <p:cNvSpPr/>
            <p:nvPr/>
          </p:nvSpPr>
          <p:spPr>
            <a:xfrm>
              <a:off x="6477000" y="4381500"/>
              <a:ext cx="5143500" cy="180975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7000" y="4381500"/>
              <a:ext cx="76200" cy="180975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50380" y="4648200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核心隐喻：无效的承载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51904" y="5013960"/>
              <a:ext cx="3364992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为了维持少数人的舒适，系统被迫承载无效重量。</a:t>
              </a: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那面朝着大西洋的玻璃，曾映照过赞叹，如今只剩</a:t>
              </a: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修复账单。燃油在空中抛弃，正如这段关系在终点</a:t>
              </a: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清算时，才发现所有的准备都成了终止的代价。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141640" y="63636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FCDA9"/>
                </a:solidFill>
                <a:latin typeface="Noto Sans CJK SC"/>
                <a:ea typeface="Noto Sans CJK SC"/>
                <a:cs typeface="Noto Sans CJK SC"/>
              </a:rPr>
              <a:t>16 / 24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1500" y="6429375"/>
            <a:ext cx="11049000" cy="9525"/>
          </a:xfrm>
          <a:prstGeom prst="rect">
            <a:avLst/>
          </a:prstGeom>
          <a:solidFill>
            <a:srgbClr val="D9EADF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356235"/>
            <a:ext cx="57521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指甲刀与预产期：身体记忆的失效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1047750"/>
            <a:ext cx="10668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5642" y="11496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核心洞察：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2892" y="1149668"/>
            <a:ext cx="60473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习惯性动作因对象缺席而失去意义，残留物从“共同未来”退化为“孤立物件”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62000" y="1714500"/>
            <a:ext cx="3429000" cy="4000500"/>
            <a:chOff x="762000" y="1714500"/>
            <a:chExt cx="3429000" cy="4000500"/>
          </a:xfrm>
        </p:grpSpPr>
        <p:sp>
          <p:nvSpPr>
            <p:cNvPr id="8" name="Rectangle 8"/>
            <p:cNvSpPr/>
            <p:nvPr/>
          </p:nvSpPr>
          <p:spPr>
            <a:xfrm>
              <a:off x="762000" y="171450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0002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81100" y="20955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38100"/>
                  </a:moveTo>
                  <a:lnTo>
                    <a:pt x="190500" y="228600"/>
                  </a:lnTo>
                  <a:moveTo>
                    <a:pt x="38100" y="0"/>
                  </a:moveTo>
                  <a:lnTo>
                    <a:pt x="228600" y="19050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2E8B57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381125" y="2257425"/>
              <a:ext cx="57150" cy="5715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9368" y="25841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打磨方向的遗忘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905125"/>
              <a:ext cx="381000" cy="28575"/>
            </a:xfrm>
            <a:prstGeom prst="roundRect">
              <a:avLst>
                <a:gd name="adj" fmla="val 5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654" y="3108960"/>
              <a:ext cx="2580132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触摸到边缘尖锐，想起她留下的工具</a:t>
              </a:r>
            </a:p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忘记“顺着一个方向”的核心要领</a:t>
              </a:r>
            </a:p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技艺因缺乏实践而迅速退化</a:t>
              </a:r>
            </a:p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“指甲磨人”成为关系的触觉注脚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095500" y="4826000"/>
              <a:ext cx="1524000" cy="254000"/>
            </a:xfrm>
            <a:custGeom>
              <a:avLst/>
              <a:gdLst/>
              <a:ahLst/>
              <a:cxnLst/>
              <a:rect l="l" t="t" r="r" b="b"/>
              <a:pathLst>
                <a:path w="1524000" h="254000">
                  <a:moveTo>
                    <a:pt x="0" y="127000"/>
                  </a:moveTo>
                  <a:cubicBezTo>
                    <a:pt x="254000" y="0"/>
                    <a:pt x="508000" y="0"/>
                    <a:pt x="762000" y="127000"/>
                  </a:cubicBezTo>
                  <a:cubicBezTo>
                    <a:pt x="1016000" y="254000"/>
                    <a:pt x="1270000" y="254000"/>
                    <a:pt x="1524000" y="127000"/>
                  </a:cubicBezTo>
                </a:path>
              </a:pathLst>
            </a:custGeom>
            <a:noFill/>
            <a:ln w="19050">
              <a:solidFill>
                <a:srgbClr val="D9EADF"/>
              </a:solidFill>
              <a:custDash>
                <a:ds d="300000" sp="200000"/>
              </a:custDash>
            </a:ln>
          </p:spPr>
        </p:sp>
        <p:sp>
          <p:nvSpPr>
            <p:cNvPr id="16" name="Ellipse 16"/>
            <p:cNvSpPr/>
            <p:nvPr/>
          </p:nvSpPr>
          <p:spPr>
            <a:xfrm>
              <a:off x="2057400" y="491490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581400" y="491490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47113" y="52206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身体记忆断裂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Rectangle 20"/>
            <p:cNvSpPr/>
            <p:nvPr/>
          </p:nvSpPr>
          <p:spPr>
            <a:xfrm>
              <a:off x="4381500" y="171450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667250" y="20002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00600" y="2095500"/>
              <a:ext cx="190500" cy="266700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2E8B57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838700" y="23241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E8B5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58868" y="25841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预产期提醒的取消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67250" y="2905125"/>
              <a:ext cx="381000" cy="28575"/>
            </a:xfrm>
            <a:prstGeom prst="roundRect">
              <a:avLst>
                <a:gd name="adj" fmla="val 5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61154" y="3108960"/>
              <a:ext cx="2427732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助理去年设置的“准备房间”提醒</a:t>
              </a:r>
            </a:p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划掉动作比任何宣言都更决绝</a:t>
              </a:r>
            </a:p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不是被动遗忘，而是主动取消未来</a:t>
              </a:r>
            </a:p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切断时间轴上的预期节点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953000" y="4762500"/>
              <a:ext cx="2286000" cy="381000"/>
            </a:xfrm>
            <a:prstGeom prst="roundRect">
              <a:avLst>
                <a:gd name="adj" fmla="val 2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138166" y="4896802"/>
              <a:ext cx="1516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预产期前三个月准备...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858000" y="4953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2E8B57"/>
              </a:solidFill>
              <a:tailEnd type="triangle" w="lg" len="lg"/>
            </a:ln>
          </p:spPr>
        </p:sp>
        <p:sp>
          <p:nvSpPr>
            <p:cNvPr id="30" name="Line 30"/>
            <p:cNvSpPr/>
            <p:nvPr/>
          </p:nvSpPr>
          <p:spPr>
            <a:xfrm>
              <a:off x="4953000" y="4762500"/>
              <a:ext cx="2286000" cy="381000"/>
            </a:xfrm>
            <a:custGeom>
              <a:avLst/>
              <a:gdLst/>
              <a:ahLst/>
              <a:cxnLst/>
              <a:rect l="l" t="t" r="r" b="b"/>
              <a:pathLst>
                <a:path w="2286000" h="381000">
                  <a:moveTo>
                    <a:pt x="0" y="0"/>
                  </a:moveTo>
                  <a:lnTo>
                    <a:pt x="2286000" y="381000"/>
                  </a:lnTo>
                </a:path>
              </a:pathLst>
            </a:custGeom>
            <a:noFill/>
            <a:ln w="9525">
              <a:solidFill>
                <a:srgbClr val="2E8B57">
                  <a:alpha val="50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66613" y="5315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主动取消未来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01000" y="1714500"/>
            <a:ext cx="3429000" cy="4000500"/>
            <a:chOff x="8001000" y="1714500"/>
            <a:chExt cx="3429000" cy="4000500"/>
          </a:xfrm>
        </p:grpSpPr>
        <p:sp>
          <p:nvSpPr>
            <p:cNvPr id="33" name="Rectangle 33"/>
            <p:cNvSpPr/>
            <p:nvPr/>
          </p:nvSpPr>
          <p:spPr>
            <a:xfrm>
              <a:off x="8001000" y="171450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286750" y="20002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82000" y="2114550"/>
              <a:ext cx="266700" cy="228600"/>
            </a:xfrm>
            <a:prstGeom prst="roundRect">
              <a:avLst>
                <a:gd name="adj" fmla="val 8333"/>
              </a:avLst>
            </a:prstGeom>
            <a:noFill/>
            <a:ln w="19050">
              <a:solidFill>
                <a:srgbClr val="2E8B57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429625" y="2162175"/>
              <a:ext cx="57150" cy="5715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37" name="Polyline 37"/>
            <p:cNvSpPr/>
            <p:nvPr/>
          </p:nvSpPr>
          <p:spPr>
            <a:xfrm>
              <a:off x="8382000" y="2209800"/>
              <a:ext cx="266700" cy="95250"/>
            </a:xfrm>
            <a:custGeom>
              <a:avLst/>
              <a:gdLst/>
              <a:ahLst/>
              <a:cxnLst/>
              <a:rect l="l" t="t" r="r" b="b"/>
              <a:pathLst>
                <a:path w="266700" h="95250">
                  <a:moveTo>
                    <a:pt x="0" y="76200"/>
                  </a:moveTo>
                  <a:lnTo>
                    <a:pt x="95250" y="0"/>
                  </a:lnTo>
                  <a:lnTo>
                    <a:pt x="171450" y="76200"/>
                  </a:lnTo>
                  <a:lnTo>
                    <a:pt x="209550" y="38100"/>
                  </a:lnTo>
                  <a:lnTo>
                    <a:pt x="266700" y="95250"/>
                  </a:lnTo>
                </a:path>
              </a:pathLst>
            </a:custGeom>
            <a:noFill/>
            <a:ln w="19050">
              <a:solidFill>
                <a:srgbClr val="2E8B5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78368" y="25841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糊图差异的徒劳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286750" y="2905125"/>
              <a:ext cx="381000" cy="28575"/>
            </a:xfrm>
            <a:prstGeom prst="roundRect">
              <a:avLst>
                <a:gd name="adj" fmla="val 5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80654" y="3108960"/>
              <a:ext cx="1970532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2007年糊图被反复翻看</a:t>
              </a:r>
            </a:p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十九年设备升级反显模糊</a:t>
              </a:r>
            </a:p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试图寻找的差异根本不存在</a:t>
              </a:r>
            </a:p>
            <a:p>
              <a:pPr algn="l" marL="129540" indent="-129540">
                <a:lnSpc>
                  <a:spcPts val="2100"/>
                </a:lnSpc>
                <a:buClr>
                  <a:srgbClr val="2C3A33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图像失去连接彼此的引力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953500" y="4762500"/>
              <a:ext cx="190500" cy="190500"/>
            </a:xfrm>
            <a:prstGeom prst="rect">
              <a:avLst/>
            </a:prstGeom>
            <a:solidFill>
              <a:srgbClr val="8FCDA9">
                <a:alpha val="80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191625" y="4762500"/>
              <a:ext cx="190500" cy="190500"/>
            </a:xfrm>
            <a:prstGeom prst="rect">
              <a:avLst/>
            </a:prstGeom>
            <a:solidFill>
              <a:srgbClr val="8FCDA9">
                <a:alpha val="60000"/>
              </a:srgb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429750" y="4762500"/>
              <a:ext cx="190500" cy="190500"/>
            </a:xfrm>
            <a:prstGeom prst="rect">
              <a:avLst/>
            </a:prstGeom>
            <a:solidFill>
              <a:srgbClr val="8FCDA9">
                <a:alpha val="40000"/>
              </a:srgbClr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667875" y="4762500"/>
              <a:ext cx="190500" cy="190500"/>
            </a:xfrm>
            <a:prstGeom prst="rect">
              <a:avLst/>
            </a:prstGeom>
            <a:solidFill>
              <a:srgbClr val="8FCDA9">
                <a:alpha val="20000"/>
              </a:srgb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06000" y="4762500"/>
              <a:ext cx="190500" cy="190500"/>
            </a:xfrm>
            <a:prstGeom prst="rect">
              <a:avLst/>
            </a:prstGeom>
            <a:solidFill>
              <a:srgbClr val="8FCDA9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86113" y="52206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差异搜寻无果</a:t>
              </a:r>
            </a:p>
          </p:txBody>
        </p:sp>
      </p:grpSp>
      <p:sp>
        <p:nvSpPr>
          <p:cNvPr id="48" name="Rectangle 48"/>
          <p:cNvSpPr/>
          <p:nvPr/>
        </p:nvSpPr>
        <p:spPr>
          <a:xfrm>
            <a:off x="762000" y="6000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F5C3D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035960" y="6159818"/>
            <a:ext cx="612007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结论：工具、提醒、图片曾指向共同未来，如今沦为失去引力的孤立物件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953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86384" y="356235"/>
            <a:ext cx="5370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终极追问：如果给了她会留下吗</a:t>
            </a:r>
          </a:p>
        </p:txBody>
      </p:sp>
      <p:sp>
        <p:nvSpPr>
          <p:cNvPr id="4" name="Rectangle 4"/>
          <p:cNvSpPr/>
          <p:nvPr/>
        </p:nvSpPr>
        <p:spPr>
          <a:xfrm>
            <a:off x="800100" y="8382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04775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93242" y="1168718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核心洞察：反事实假设揭示关系本质的不可逆性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500" y="1714500"/>
            <a:ext cx="5143500" cy="4572000"/>
            <a:chOff x="571500" y="1714500"/>
            <a:chExt cx="51435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714500"/>
              <a:ext cx="5143500" cy="4572000"/>
            </a:xfrm>
            <a:prstGeom prst="roundRect">
              <a:avLst>
                <a:gd name="adj" fmla="val 2917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2095500"/>
              <a:ext cx="4381500" cy="2476500"/>
            </a:xfrm>
            <a:prstGeom prst="roundRect">
              <a:avLst>
                <a:gd name="adj" fmla="val 3077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38100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9050">
              <a:solidFill>
                <a:srgbClr val="8FCDA9"/>
              </a:solidFill>
              <a:prstDash val="lgDash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333500" y="3429000"/>
              <a:ext cx="38100" cy="762000"/>
            </a:xfrm>
            <a:prstGeom prst="rect">
              <a:avLst/>
            </a:prstGeom>
            <a:solidFill>
              <a:srgbClr val="2E8B57">
                <a:alpha val="60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905000" y="3238500"/>
              <a:ext cx="38100" cy="952500"/>
            </a:xfrm>
            <a:prstGeom prst="rect">
              <a:avLst/>
            </a:prstGeom>
            <a:solidFill>
              <a:srgbClr val="2E8B57">
                <a:alpha val="40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667000" y="3524250"/>
              <a:ext cx="38100" cy="666750"/>
            </a:xfrm>
            <a:prstGeom prst="rect">
              <a:avLst/>
            </a:prstGeom>
            <a:solidFill>
              <a:srgbClr val="2E8B57">
                <a:alpha val="7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29000" y="3143250"/>
              <a:ext cx="38100" cy="1047750"/>
            </a:xfrm>
            <a:prstGeom prst="rect">
              <a:avLst/>
            </a:prstGeom>
            <a:solidFill>
              <a:srgbClr val="2E8B57">
                <a:alpha val="50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191000" y="3333750"/>
              <a:ext cx="38100" cy="857250"/>
            </a:xfrm>
            <a:prstGeom prst="rect">
              <a:avLst/>
            </a:prstGeom>
            <a:solidFill>
              <a:srgbClr val="2E8B57">
                <a:alpha val="60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762500" y="3476625"/>
              <a:ext cx="38100" cy="714375"/>
            </a:xfrm>
            <a:prstGeom prst="rect">
              <a:avLst/>
            </a:prstGeom>
            <a:solidFill>
              <a:srgbClr val="2E8B57">
                <a:alpha val="4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74356" y="2076450"/>
              <a:ext cx="737787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0" b="1" dirty="0">
                  <a:solidFill>
                    <a:srgbClr val="1F5C3D">
                      <a:alphaMod val="15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67890" y="48234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维港烟花与凌晨三点的寂静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5757" y="50682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百万人潮涌来又退去，盛大布置终归虚无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5524500"/>
              <a:ext cx="4381500" cy="476250"/>
            </a:xfrm>
            <a:prstGeom prst="roundRect">
              <a:avLst>
                <a:gd name="adj" fmla="val 12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0184" y="5680710"/>
              <a:ext cx="2726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8B57"/>
                  </a:solidFill>
                  <a:latin typeface="Noto Sans CJK SC"/>
                  <a:ea typeface="Microsoft YaHei"/>
                  <a:cs typeface="Noto Sans CJK SC"/>
                </a:rPr>
                <a:t>当一切皆可被满足，欲望便失去对象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0" y="1714500"/>
            <a:ext cx="5524500" cy="4572000"/>
            <a:chOff x="6096000" y="1714500"/>
            <a:chExt cx="5524500" cy="4572000"/>
          </a:xfrm>
        </p:grpSpPr>
        <p:sp>
          <p:nvSpPr>
            <p:cNvPr id="22" name="Rectangle 22"/>
            <p:cNvSpPr/>
            <p:nvPr/>
          </p:nvSpPr>
          <p:spPr>
            <a:xfrm>
              <a:off x="6096000" y="1714500"/>
              <a:ext cx="5524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267450" y="1981200"/>
              <a:ext cx="228600" cy="2286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5601" y="2029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22542" y="18926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反事实假设的无解性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24066" y="215360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提问本身已是觉悟，答案早已写在每一次无条件响应中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0" y="2628900"/>
              <a:ext cx="5524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267450" y="2895600"/>
              <a:ext cx="228600" cy="2286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5601" y="29441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2542" y="28070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给予无法修复内核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4066" y="3068002"/>
              <a:ext cx="3304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离开不是因为缺少5000万，而是“没意思了”成为必然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6000" y="3543300"/>
              <a:ext cx="5524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267450" y="3810000"/>
              <a:ext cx="228600" cy="2286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5601" y="3858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22542" y="372141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AI加速必然结局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24066" y="398240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拒绝只是催化剂，关系沦为程序执行而非情感交互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0" y="4457700"/>
              <a:ext cx="5524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EADF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267450" y="4724400"/>
              <a:ext cx="228600" cy="2286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5601" y="4772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22542" y="46358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C3D"/>
                  </a:solidFill>
                  <a:latin typeface="Noto Sans CJK SC"/>
                  <a:ea typeface="Microsoft YaHei"/>
                  <a:cs typeface="Noto Sans CJK SC"/>
                </a:rPr>
                <a:t>损失的是犹豫的能力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24066" y="489680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837A"/>
                  </a:solidFill>
                  <a:latin typeface="Noto Sans CJK SC"/>
                  <a:ea typeface="Microsoft YaHei"/>
                  <a:cs typeface="Noto Sans CJK SC"/>
                </a:rPr>
                <a:t>真正的代价不是金钱或爱人，而是曾经为爱踌躇的自己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96000" y="5429250"/>
              <a:ext cx="5524500" cy="857250"/>
            </a:xfrm>
            <a:prstGeom prst="roundRect">
              <a:avLst>
                <a:gd name="adj" fmla="val 11111"/>
              </a:avLst>
            </a:prstGeom>
            <a:solidFill>
              <a:srgbClr val="1F5C3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84484" y="56292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现在心跳平稳，世界安静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05978" y="59474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FCDA9"/>
                  </a:solidFill>
                  <a:latin typeface="Noto Sans CJK SC"/>
                  <a:ea typeface="Microsoft YaHei"/>
                  <a:cs typeface="Noto Sans CJK SC"/>
                </a:rPr>
                <a:t>连遗憾都显得多余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47" name="Line 47"/>
          <p:cNvSpPr/>
          <p:nvPr/>
        </p:nvSpPr>
        <p:spPr>
          <a:xfrm>
            <a:off x="571500" y="6572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495300" y="457200"/>
            <a:ext cx="152400" cy="152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86384" y="318135"/>
            <a:ext cx="460720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数据复盘：情绪资产负债表</a:t>
            </a:r>
          </a:p>
        </p:txBody>
      </p:sp>
      <p:sp>
        <p:nvSpPr>
          <p:cNvPr id="4" name="Rectangle 4"/>
          <p:cNvSpPr/>
          <p:nvPr/>
        </p:nvSpPr>
        <p:spPr>
          <a:xfrm>
            <a:off x="800100" y="7620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93242" y="902018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837A"/>
                </a:solidFill>
                <a:latin typeface="Noto Sans CJK SC"/>
                <a:ea typeface="Microsoft YaHei"/>
                <a:cs typeface="Noto Sans CJK SC"/>
              </a:rPr>
              <a:t>将所有情感投入量化为可审计的损益项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33500"/>
            <a:ext cx="5334000" cy="4191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476250"/>
          </a:xfrm>
          <a:prstGeom prst="roundRect">
            <a:avLst>
              <a:gd name="adj" fmla="val 28000"/>
            </a:avLst>
          </a:prstGeom>
          <a:solidFill>
            <a:srgbClr val="E8F5E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676400"/>
            <a:ext cx="5334000" cy="133350"/>
          </a:xfrm>
          <a:prstGeom prst="rect">
            <a:avLst/>
          </a:prstGeom>
          <a:solidFill>
            <a:srgbClr val="E8F5E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47358" y="1460182"/>
            <a:ext cx="25822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资产端：情感投入账面值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14400" y="2102168"/>
            <a:ext cx="4038600" cy="2069782"/>
            <a:chOff x="914400" y="2102168"/>
            <a:chExt cx="4038600" cy="2069782"/>
          </a:xfrm>
        </p:grpSpPr>
        <p:sp>
          <p:nvSpPr>
            <p:cNvPr id="10" name="Ellipse 10"/>
            <p:cNvSpPr/>
            <p:nvPr/>
          </p:nvSpPr>
          <p:spPr>
            <a:xfrm>
              <a:off x="914400" y="215265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6142" y="21021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19年执念存续（无形资产）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43000" y="2381250"/>
              <a:ext cx="3810000" cy="762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43000" y="2381250"/>
              <a:ext cx="3619500" cy="76200"/>
            </a:xfrm>
            <a:prstGeom prst="roundRect">
              <a:avLst>
                <a:gd name="adj" fmla="val 5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14400" y="272415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6142" y="2673668"/>
              <a:ext cx="2337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40页尽调报告 + AI理性决策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43000" y="2952750"/>
              <a:ext cx="3810000" cy="762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43000" y="2952750"/>
              <a:ext cx="3048000" cy="76200"/>
            </a:xfrm>
            <a:prstGeom prst="roundRect">
              <a:avLst>
                <a:gd name="adj" fmla="val 5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14400" y="329565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6142" y="324516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30人团队服务能力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43000" y="3524250"/>
              <a:ext cx="3810000" cy="762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43000" y="3524250"/>
              <a:ext cx="2667000" cy="76200"/>
            </a:xfrm>
            <a:prstGeom prst="roundRect">
              <a:avLst>
                <a:gd name="adj" fmla="val 50000"/>
              </a:avLst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14400" y="3867150"/>
              <a:ext cx="76200" cy="76200"/>
            </a:xfrm>
            <a:prstGeom prst="ellipse">
              <a:avLst/>
            </a:prstGeom>
            <a:solidFill>
              <a:srgbClr val="8FCDA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6142" y="3816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全球多地顶级住宿体验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43000" y="4095750"/>
              <a:ext cx="3810000" cy="762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43000" y="4095750"/>
              <a:ext cx="2286000" cy="76200"/>
            </a:xfrm>
            <a:prstGeom prst="roundRect">
              <a:avLst>
                <a:gd name="adj" fmla="val 50000"/>
              </a:avLst>
            </a:prstGeom>
            <a:solidFill>
              <a:srgbClr val="8FCDA9"/>
            </a:solidFill>
            <a:ln>
              <a:noFill/>
            </a:ln>
          </p:spPr>
        </p:sp>
      </p:grpSp>
      <p:sp>
        <p:nvSpPr>
          <p:cNvPr id="27" name="Rectangle 27"/>
          <p:cNvSpPr/>
          <p:nvPr/>
        </p:nvSpPr>
        <p:spPr>
          <a:xfrm>
            <a:off x="6286500" y="1333500"/>
            <a:ext cx="5334000" cy="4191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286500" y="1333500"/>
            <a:ext cx="5334000" cy="476250"/>
          </a:xfrm>
          <a:prstGeom prst="roundRect">
            <a:avLst>
              <a:gd name="adj" fmla="val 28000"/>
            </a:avLst>
          </a:prstGeom>
          <a:solidFill>
            <a:srgbClr val="FCEFE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286500" y="1676400"/>
            <a:ext cx="5334000" cy="133350"/>
          </a:xfrm>
          <a:prstGeom prst="rect">
            <a:avLst/>
          </a:prstGeom>
          <a:solidFill>
            <a:srgbClr val="FCEFE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662358" y="1460182"/>
            <a:ext cx="25822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负债端：实际损耗与伪装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6629400" y="2102168"/>
            <a:ext cx="4038600" cy="2069782"/>
            <a:chOff x="6629400" y="2102168"/>
            <a:chExt cx="4038600" cy="2069782"/>
          </a:xfrm>
        </p:grpSpPr>
        <p:sp>
          <p:nvSpPr>
            <p:cNvPr id="31" name="Ellipse 31"/>
            <p:cNvSpPr/>
            <p:nvPr/>
          </p:nvSpPr>
          <p:spPr>
            <a:xfrm>
              <a:off x="6629400" y="2152650"/>
              <a:ext cx="76200" cy="762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1142" y="210216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5000万美元潜在损失 + 20万定金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58000" y="2381250"/>
              <a:ext cx="3810000" cy="762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0" y="2381250"/>
              <a:ext cx="3714750" cy="7620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629400" y="2724150"/>
              <a:ext cx="76200" cy="762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1142" y="26736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隐私焦虑成本（团队服务实质）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58000" y="2952750"/>
              <a:ext cx="3810000" cy="762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0" y="295275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629400" y="3295650"/>
              <a:ext cx="76200" cy="762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51142" y="3245168"/>
              <a:ext cx="248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情感无能外包（AI支持实质）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58000" y="3524250"/>
              <a:ext cx="3810000" cy="762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58000" y="3524250"/>
              <a:ext cx="2857500" cy="7620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629400" y="3867150"/>
              <a:ext cx="76200" cy="762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51142" y="381666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3A33"/>
                  </a:solidFill>
                  <a:latin typeface="Noto Sans CJK SC"/>
                  <a:ea typeface="Microsoft YaHei"/>
                  <a:cs typeface="Noto Sans CJK SC"/>
                </a:rPr>
                <a:t>身体记忆退化 + 未拆针剂浪费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58000" y="4095750"/>
              <a:ext cx="3810000" cy="76200"/>
            </a:xfrm>
            <a:prstGeom prst="roundRect">
              <a:avLst>
                <a:gd name="adj" fmla="val 50000"/>
              </a:avLst>
            </a:prstGeom>
            <a:solidFill>
              <a:srgbClr val="F4F9F4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58000" y="4095750"/>
              <a:ext cx="2476500" cy="7620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</p:grpSp>
      <p:sp>
        <p:nvSpPr>
          <p:cNvPr id="48" name="Rectangle 48"/>
          <p:cNvSpPr/>
          <p:nvPr/>
        </p:nvSpPr>
        <p:spPr>
          <a:xfrm>
            <a:off x="571500" y="5810250"/>
            <a:ext cx="11049000" cy="666750"/>
          </a:xfrm>
          <a:prstGeom prst="roundRect">
            <a:avLst>
              <a:gd name="adj" fmla="val 20000"/>
            </a:avLst>
          </a:prstGeom>
          <a:solidFill>
            <a:srgbClr val="1F5C3D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43356" y="60159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净资产核算：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57856" y="601599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CDA9"/>
                </a:solidFill>
                <a:latin typeface="Noto Sans CJK SC"/>
                <a:ea typeface="Microsoft YaHei"/>
                <a:cs typeface="Noto Sans CJK SC"/>
              </a:rPr>
              <a:t>负值（亏损额远低于账面，因资产多为负债伪装）</a:t>
            </a:r>
          </a:p>
        </p:txBody>
      </p:sp>
      <p:sp>
        <p:nvSpPr>
          <p:cNvPr id="51" name="Line 51"/>
          <p:cNvSpPr/>
          <p:nvPr/>
        </p:nvSpPr>
        <p:spPr>
          <a:xfrm>
            <a:off x="8191500" y="59531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2E8B57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564880" y="60483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结论：告别仅需一次心跳监测</a:t>
            </a:r>
          </a:p>
        </p:txBody>
      </p:sp>
      <p:sp>
        <p:nvSpPr>
          <p:cNvPr id="53" name="Freeform 53"/>
          <p:cNvSpPr/>
          <p:nvPr/>
        </p:nvSpPr>
        <p:spPr>
          <a:xfrm>
            <a:off x="5905500" y="34290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8FCDA9"/>
            </a:solidFill>
            <a:prstDash val="dash"/>
          </a:ln>
        </p:spPr>
      </p:sp>
      <p:sp>
        <p:nvSpPr>
          <p:cNvPr id="54" name="Ellipse 54"/>
          <p:cNvSpPr/>
          <p:nvPr/>
        </p:nvSpPr>
        <p:spPr>
          <a:xfrm>
            <a:off x="5981700" y="3314700"/>
            <a:ext cx="228600" cy="228600"/>
          </a:xfrm>
          <a:prstGeom prst="ellipse">
            <a:avLst/>
          </a:prstGeom>
          <a:solidFill>
            <a:srgbClr val="F4F9F4"/>
          </a:solidFill>
          <a:ln w="19050">
            <a:solidFill>
              <a:srgbClr val="2E8B5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6004415" y="3363278"/>
            <a:ext cx="1831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VS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1416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19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571500" y="571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9EADF"/>
            </a:solidFill>
          </a:ln>
        </p:spPr>
      </p:sp>
      <p:sp>
        <p:nvSpPr>
          <p:cNvPr id="3" name="Ellipse 3"/>
          <p:cNvSpPr/>
          <p:nvPr/>
        </p:nvSpPr>
        <p:spPr>
          <a:xfrm>
            <a:off x="514350" y="895350"/>
            <a:ext cx="114300" cy="1143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284" y="737235"/>
            <a:ext cx="57521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终章：什么都没有发生的凌晨三点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1811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333500" y="1714500"/>
            <a:ext cx="95250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369869" y="2045970"/>
            <a:ext cx="545226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2E8B57"/>
                </a:solidFill>
                <a:latin typeface="Noto Sans CJK SC"/>
                <a:ea typeface="Microsoft YaHei"/>
                <a:cs typeface="Noto Sans CJK SC"/>
              </a:rPr>
              <a:t>盛大叙事的终点是彻底的静默与空无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3048000"/>
            <a:ext cx="5334000" cy="3048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3048000"/>
            <a:ext cx="76200" cy="3048000"/>
          </a:xfrm>
          <a:prstGeom prst="roundRect">
            <a:avLst>
              <a:gd name="adj" fmla="val 50000"/>
            </a:avLst>
          </a:prstGeom>
          <a:solidFill>
            <a:srgbClr val="8FCDA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5256" y="32727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叙事归零</a:t>
            </a:r>
          </a:p>
        </p:txBody>
      </p:sp>
      <p:sp>
        <p:nvSpPr>
          <p:cNvPr id="11" name="Ellipse 11"/>
          <p:cNvSpPr/>
          <p:nvPr/>
        </p:nvSpPr>
        <p:spPr>
          <a:xfrm>
            <a:off x="971550" y="3867150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173480" y="38004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百万人潮退去后的维港静默</a:t>
            </a:r>
          </a:p>
        </p:txBody>
      </p:sp>
      <p:sp>
        <p:nvSpPr>
          <p:cNvPr id="13" name="Ellipse 13"/>
          <p:cNvSpPr/>
          <p:nvPr/>
        </p:nvSpPr>
        <p:spPr>
          <a:xfrm>
            <a:off x="971550" y="4305300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73480" y="4238625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与开篇“失去皇后的凡尔赛宫”呼应</a:t>
            </a:r>
          </a:p>
        </p:txBody>
      </p:sp>
      <p:sp>
        <p:nvSpPr>
          <p:cNvPr id="15" name="Ellipse 15"/>
          <p:cNvSpPr/>
          <p:nvPr/>
        </p:nvSpPr>
        <p:spPr>
          <a:xfrm>
            <a:off x="971550" y="4743450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73480" y="46767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所有情节汇入寂静，心跳平稳如常</a:t>
            </a:r>
          </a:p>
        </p:txBody>
      </p:sp>
      <p:sp>
        <p:nvSpPr>
          <p:cNvPr id="17" name="Ellipse 17"/>
          <p:cNvSpPr/>
          <p:nvPr/>
        </p:nvSpPr>
        <p:spPr>
          <a:xfrm>
            <a:off x="971550" y="5181600"/>
            <a:ext cx="76200" cy="76200"/>
          </a:xfrm>
          <a:prstGeom prst="ellipse">
            <a:avLst/>
          </a:prstGeom>
          <a:solidFill>
            <a:srgbClr val="8FCDA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73480" y="5114925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不是悲剧，而是熵增的必然冷却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3048000"/>
            <a:ext cx="5334000" cy="3048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EAD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3048000"/>
            <a:ext cx="76200" cy="30480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20256" y="32727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5C3D"/>
                </a:solidFill>
                <a:latin typeface="Noto Sans CJK SC"/>
                <a:ea typeface="Microsoft YaHei"/>
                <a:cs typeface="Noto Sans CJK SC"/>
              </a:rPr>
              <a:t>接口断开</a:t>
            </a:r>
          </a:p>
        </p:txBody>
      </p:sp>
      <p:sp>
        <p:nvSpPr>
          <p:cNvPr id="22" name="Ellipse 22"/>
          <p:cNvSpPr/>
          <p:nvPr/>
        </p:nvSpPr>
        <p:spPr>
          <a:xfrm>
            <a:off x="6686550" y="3867150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888480" y="380047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系统过度有序后悄然崩溃</a:t>
            </a:r>
          </a:p>
        </p:txBody>
      </p:sp>
      <p:sp>
        <p:nvSpPr>
          <p:cNvPr id="24" name="Ellipse 24"/>
          <p:cNvSpPr/>
          <p:nvPr/>
        </p:nvSpPr>
        <p:spPr>
          <a:xfrm>
            <a:off x="6686550" y="4305300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888480" y="4238625"/>
            <a:ext cx="22566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“景甜”还原为纯粹的符号</a:t>
            </a:r>
          </a:p>
        </p:txBody>
      </p:sp>
      <p:sp>
        <p:nvSpPr>
          <p:cNvPr id="26" name="Ellipse 26"/>
          <p:cNvSpPr/>
          <p:nvPr/>
        </p:nvSpPr>
        <p:spPr>
          <a:xfrm>
            <a:off x="6686550" y="4743450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888480" y="46767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从十九年的角色扮演中退场</a:t>
            </a:r>
          </a:p>
        </p:txBody>
      </p:sp>
      <p:sp>
        <p:nvSpPr>
          <p:cNvPr id="28" name="Ellipse 28"/>
          <p:cNvSpPr/>
          <p:nvPr/>
        </p:nvSpPr>
        <p:spPr>
          <a:xfrm>
            <a:off x="6686550" y="5181600"/>
            <a:ext cx="76200" cy="76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88480" y="5114925"/>
            <a:ext cx="31409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3A33"/>
                </a:solidFill>
                <a:latin typeface="Noto Sans CJK SC"/>
                <a:ea typeface="Microsoft YaHei"/>
                <a:cs typeface="Noto Sans CJK SC"/>
              </a:rPr>
              <a:t>PPT结束于空白，生活继续于虚无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238500" y="6286500"/>
            <a:ext cx="5715000" cy="381000"/>
          </a:xfrm>
          <a:prstGeom prst="roundRect">
            <a:avLst>
              <a:gd name="adj" fmla="val 50000"/>
            </a:avLst>
          </a:prstGeom>
          <a:solidFill>
            <a:srgbClr val="1F5C3D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887658" y="6397942"/>
            <a:ext cx="24166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spc="1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凌晨三点，什么都没有发生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1416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837A"/>
                </a:solidFill>
                <a:latin typeface="Noto Sans CJK SC"/>
                <a:ea typeface="Noto Sans CJK SC"/>
                <a:cs typeface="Noto Sans CJK SC"/>
              </a:rPr>
              <a:t>20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2026-08-28T06:58:55Z</dcterms:created>
  <dcterms:modified xsi:type="dcterms:W3CDTF">2026-08-28T06:58:55Z</dcterms:modified>
  <cp:category/>
  <cp:contentStatus/>
</cp:coreProperties>
</file>